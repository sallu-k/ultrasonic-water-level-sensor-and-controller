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9" r:id="rId1"/>
  </p:sldMasterIdLst>
  <p:sldIdLst>
    <p:sldId id="270" r:id="rId2"/>
    <p:sldId id="294" r:id="rId3"/>
    <p:sldId id="273" r:id="rId4"/>
    <p:sldId id="262" r:id="rId5"/>
    <p:sldId id="272" r:id="rId6"/>
    <p:sldId id="274" r:id="rId7"/>
    <p:sldId id="264" r:id="rId8"/>
    <p:sldId id="280" r:id="rId9"/>
    <p:sldId id="281" r:id="rId10"/>
    <p:sldId id="265" r:id="rId11"/>
    <p:sldId id="282" r:id="rId12"/>
    <p:sldId id="283" r:id="rId13"/>
    <p:sldId id="295" r:id="rId14"/>
    <p:sldId id="268" r:id="rId15"/>
    <p:sldId id="267" r:id="rId16"/>
    <p:sldId id="284" r:id="rId17"/>
    <p:sldId id="285" r:id="rId18"/>
    <p:sldId id="286" r:id="rId19"/>
    <p:sldId id="287" r:id="rId20"/>
    <p:sldId id="288" r:id="rId21"/>
    <p:sldId id="289" r:id="rId22"/>
    <p:sldId id="296" r:id="rId23"/>
    <p:sldId id="293"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1DD898F-0E01-4D88-A478-1944FD2A4E99}">
          <p14:sldIdLst>
            <p14:sldId id="270"/>
            <p14:sldId id="294"/>
            <p14:sldId id="273"/>
            <p14:sldId id="262"/>
            <p14:sldId id="272"/>
            <p14:sldId id="274"/>
            <p14:sldId id="264"/>
            <p14:sldId id="280"/>
            <p14:sldId id="281"/>
            <p14:sldId id="265"/>
            <p14:sldId id="282"/>
            <p14:sldId id="283"/>
            <p14:sldId id="295"/>
            <p14:sldId id="268"/>
            <p14:sldId id="267"/>
            <p14:sldId id="284"/>
            <p14:sldId id="285"/>
            <p14:sldId id="286"/>
            <p14:sldId id="287"/>
            <p14:sldId id="288"/>
            <p14:sldId id="289"/>
            <p14:sldId id="296"/>
            <p14:sldId id="293"/>
            <p14:sldId id="26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p:cViewPr varScale="1">
        <p:scale>
          <a:sx n="120" d="100"/>
          <a:sy n="120" d="100"/>
        </p:scale>
        <p:origin x="288"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1079441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339534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2672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399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31449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2442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4065204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69740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8910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53012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 Catego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94853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hoto + 3 Sec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73566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hoto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110616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4010286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55617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70152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3850194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327751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8010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
        <p:nvSpPr>
          <p:cNvPr id="5" name="Rectangle 4">
            <a:extLst>
              <a:ext uri="{FF2B5EF4-FFF2-40B4-BE49-F238E27FC236}">
                <a16:creationId xmlns:a16="http://schemas.microsoft.com/office/drawing/2014/main" id="{7CDDDB7D-9189-9548-A2B9-81DC62C3C1A3}"/>
              </a:ext>
            </a:extLst>
          </p:cNvPr>
          <p:cNvSpPr/>
          <p:nvPr/>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58047648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16.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www.un.org/waterforlifedecade/scarcity.shtml" TargetMode="External"/><Relationship Id="rId2" Type="http://schemas.openxmlformats.org/officeDocument/2006/relationships/hyperlink" Target="https://www.worldbank.org/en/topic/water" TargetMode="External"/><Relationship Id="rId1" Type="http://schemas.openxmlformats.org/officeDocument/2006/relationships/slideLayout" Target="../slideLayouts/slideLayout15.xml"/><Relationship Id="rId5" Type="http://schemas.openxmlformats.org/officeDocument/2006/relationships/hyperlink" Target="https://www.unesco.org/reports/wwdr/2021/en" TargetMode="External"/><Relationship Id="rId4" Type="http://schemas.openxmlformats.org/officeDocument/2006/relationships/hyperlink" Target="https://github.com/johnrickman/LiquidCrystal_I2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009DE6D-4111-446D-A63A-3CCC479A7B74}"/>
              </a:ext>
            </a:extLst>
          </p:cNvPr>
          <p:cNvSpPr txBox="1"/>
          <p:nvPr/>
        </p:nvSpPr>
        <p:spPr>
          <a:xfrm>
            <a:off x="1696873" y="439599"/>
            <a:ext cx="10229655" cy="677108"/>
          </a:xfrm>
          <a:prstGeom prst="rect">
            <a:avLst/>
          </a:prstGeom>
          <a:noFill/>
        </p:spPr>
        <p:txBody>
          <a:bodyPr wrap="square">
            <a:spAutoFit/>
          </a:bodyPr>
          <a:lstStyle/>
          <a:p>
            <a:pPr algn="l"/>
            <a:endParaRPr lang="en-GB" sz="1200" b="0" i="0" u="none" strike="noStrike" baseline="0" dirty="0">
              <a:solidFill>
                <a:schemeClr val="bg1"/>
              </a:solidFill>
              <a:latin typeface="Times New Roman" panose="02020603050405020304" pitchFamily="18" charset="0"/>
            </a:endParaRPr>
          </a:p>
          <a:p>
            <a:r>
              <a:rPr lang="en-GB" sz="2600" b="1" i="0" u="none" strike="noStrike" baseline="0" dirty="0">
                <a:solidFill>
                  <a:schemeClr val="bg1"/>
                </a:solidFill>
                <a:latin typeface="Times New Roman" panose="02020603050405020304" pitchFamily="18" charset="0"/>
              </a:rPr>
              <a:t>ANJUMAN INSTITUTE OF TECHNOLOGY AND MANAGEMENT</a:t>
            </a:r>
            <a:endParaRPr lang="en-GB" sz="2600" b="0" i="0" u="none" strike="noStrike" baseline="0" dirty="0">
              <a:solidFill>
                <a:schemeClr val="bg1"/>
              </a:solidFill>
              <a:latin typeface="Times New Roman" panose="02020603050405020304" pitchFamily="18" charset="0"/>
            </a:endParaRPr>
          </a:p>
        </p:txBody>
      </p:sp>
      <p:sp>
        <p:nvSpPr>
          <p:cNvPr id="13" name="TextBox 12">
            <a:extLst>
              <a:ext uri="{FF2B5EF4-FFF2-40B4-BE49-F238E27FC236}">
                <a16:creationId xmlns:a16="http://schemas.microsoft.com/office/drawing/2014/main" id="{E427CD0D-7DCC-4D1C-8FB0-D33F52D748E1}"/>
              </a:ext>
            </a:extLst>
          </p:cNvPr>
          <p:cNvSpPr txBox="1"/>
          <p:nvPr/>
        </p:nvSpPr>
        <p:spPr>
          <a:xfrm>
            <a:off x="929148" y="1483217"/>
            <a:ext cx="10333703" cy="5216813"/>
          </a:xfrm>
          <a:prstGeom prst="rect">
            <a:avLst/>
          </a:prstGeom>
          <a:noFill/>
        </p:spPr>
        <p:txBody>
          <a:bodyPr wrap="square" rtlCol="0">
            <a:spAutoFit/>
          </a:bodyPr>
          <a:lstStyle/>
          <a:p>
            <a:pPr algn="ctr"/>
            <a:endParaRPr lang="en-GB" dirty="0">
              <a:solidFill>
                <a:schemeClr val="bg1"/>
              </a:solidFill>
            </a:endParaRPr>
          </a:p>
          <a:p>
            <a:pPr algn="ctr"/>
            <a:r>
              <a:rPr lang="en-GB" dirty="0">
                <a:solidFill>
                  <a:schemeClr val="bg1"/>
                </a:solidFill>
              </a:rPr>
              <a:t>Mini Project Seminar on</a:t>
            </a:r>
          </a:p>
          <a:p>
            <a:pPr algn="ctr"/>
            <a:endParaRPr lang="en-GB" dirty="0">
              <a:solidFill>
                <a:schemeClr val="bg1"/>
              </a:solidFill>
            </a:endParaRPr>
          </a:p>
          <a:p>
            <a:pPr algn="ctr"/>
            <a:r>
              <a:rPr lang="en-GB" sz="2800" b="1" dirty="0">
                <a:solidFill>
                  <a:schemeClr val="bg1"/>
                </a:solidFill>
                <a:latin typeface="Book Antiqua" panose="02040602050305030304" pitchFamily="18" charset="0"/>
              </a:rPr>
              <a:t>ULTRA-SONIC WATER LEVEL SENSOR AND CONTROLLER</a:t>
            </a:r>
          </a:p>
          <a:p>
            <a:pPr algn="ctr"/>
            <a:endParaRPr lang="en-GB" dirty="0">
              <a:solidFill>
                <a:schemeClr val="bg1"/>
              </a:solidFill>
            </a:endParaRPr>
          </a:p>
          <a:p>
            <a:pPr algn="ctr"/>
            <a:r>
              <a:rPr lang="en-GB" dirty="0">
                <a:solidFill>
                  <a:schemeClr val="bg1"/>
                </a:solidFill>
              </a:rPr>
              <a:t>Presented by</a:t>
            </a:r>
          </a:p>
          <a:p>
            <a:pPr algn="ctr"/>
            <a:endParaRPr lang="en-GB" dirty="0">
              <a:solidFill>
                <a:schemeClr val="bg1"/>
              </a:solidFill>
            </a:endParaRPr>
          </a:p>
          <a:p>
            <a:pPr algn="ctr"/>
            <a:r>
              <a:rPr lang="en-GB" sz="2000" dirty="0">
                <a:solidFill>
                  <a:schemeClr val="bg1"/>
                </a:solidFill>
                <a:latin typeface="Book Antiqua" panose="02040602050305030304" pitchFamily="18" charset="0"/>
              </a:rPr>
              <a:t>Salsabeel Kobattey</a:t>
            </a:r>
          </a:p>
          <a:p>
            <a:pPr algn="ctr"/>
            <a:r>
              <a:rPr lang="en-GB" sz="2000" dirty="0" err="1">
                <a:solidFill>
                  <a:schemeClr val="bg1"/>
                </a:solidFill>
                <a:latin typeface="Book Antiqua" panose="02040602050305030304" pitchFamily="18" charset="0"/>
              </a:rPr>
              <a:t>Shayan</a:t>
            </a:r>
            <a:r>
              <a:rPr lang="en-GB" sz="2000" dirty="0">
                <a:solidFill>
                  <a:schemeClr val="bg1"/>
                </a:solidFill>
                <a:latin typeface="Book Antiqua" panose="02040602050305030304" pitchFamily="18" charset="0"/>
              </a:rPr>
              <a:t> Ahmed</a:t>
            </a:r>
          </a:p>
          <a:p>
            <a:pPr algn="ctr"/>
            <a:r>
              <a:rPr lang="en-GB" sz="2000" dirty="0">
                <a:solidFill>
                  <a:schemeClr val="bg1"/>
                </a:solidFill>
                <a:latin typeface="Book Antiqua" panose="02040602050305030304" pitchFamily="18" charset="0"/>
              </a:rPr>
              <a:t>Nawwaf </a:t>
            </a:r>
            <a:r>
              <a:rPr lang="en-GB" sz="2000" dirty="0" err="1">
                <a:solidFill>
                  <a:schemeClr val="bg1"/>
                </a:solidFill>
                <a:latin typeface="Book Antiqua" panose="02040602050305030304" pitchFamily="18" charset="0"/>
              </a:rPr>
              <a:t>Peshmam</a:t>
            </a:r>
            <a:endParaRPr lang="en-GB" sz="2000" dirty="0">
              <a:solidFill>
                <a:schemeClr val="bg1"/>
              </a:solidFill>
              <a:latin typeface="Book Antiqua" panose="02040602050305030304" pitchFamily="18" charset="0"/>
            </a:endParaRPr>
          </a:p>
          <a:p>
            <a:pPr algn="ctr"/>
            <a:r>
              <a:rPr lang="en-GB" sz="2000" dirty="0" err="1">
                <a:solidFill>
                  <a:schemeClr val="bg1"/>
                </a:solidFill>
                <a:latin typeface="Book Antiqua" panose="02040602050305030304" pitchFamily="18" charset="0"/>
              </a:rPr>
              <a:t>Ruwaif</a:t>
            </a:r>
            <a:r>
              <a:rPr lang="en-GB" sz="2000" dirty="0">
                <a:solidFill>
                  <a:schemeClr val="bg1"/>
                </a:solidFill>
                <a:latin typeface="Book Antiqua" panose="02040602050305030304" pitchFamily="18" charset="0"/>
              </a:rPr>
              <a:t> </a:t>
            </a:r>
            <a:r>
              <a:rPr lang="en-GB" sz="2000" dirty="0" err="1">
                <a:solidFill>
                  <a:schemeClr val="bg1"/>
                </a:solidFill>
                <a:latin typeface="Book Antiqua" panose="02040602050305030304" pitchFamily="18" charset="0"/>
              </a:rPr>
              <a:t>Fakardey</a:t>
            </a:r>
            <a:endParaRPr lang="en-GB" dirty="0">
              <a:solidFill>
                <a:schemeClr val="bg1"/>
              </a:solidFill>
            </a:endParaRPr>
          </a:p>
          <a:p>
            <a:pPr algn="ctr"/>
            <a:endParaRPr lang="en-GB" sz="1100" b="0" i="0" u="none" strike="noStrike" baseline="0" dirty="0">
              <a:solidFill>
                <a:schemeClr val="bg1"/>
              </a:solidFill>
              <a:latin typeface="Calibri" panose="020F0502020204030204" pitchFamily="34" charset="0"/>
            </a:endParaRPr>
          </a:p>
          <a:p>
            <a:pPr algn="ctr"/>
            <a:r>
              <a:rPr lang="en-GB" sz="2000" b="0" i="0" u="none" strike="noStrike" baseline="0" dirty="0">
                <a:solidFill>
                  <a:schemeClr val="bg1"/>
                </a:solidFill>
                <a:latin typeface="Calibri" panose="020F0502020204030204" pitchFamily="34" charset="0"/>
              </a:rPr>
              <a:t>Under the Guidance of</a:t>
            </a:r>
          </a:p>
          <a:p>
            <a:pPr algn="ctr"/>
            <a:r>
              <a:rPr lang="en-GB" sz="2000" b="0" i="0" u="none" strike="noStrike" baseline="0" dirty="0">
                <a:solidFill>
                  <a:schemeClr val="bg1"/>
                </a:solidFill>
                <a:latin typeface="Times New Roman" panose="02020603050405020304" pitchFamily="18" charset="0"/>
              </a:rPr>
              <a:t>Prof. </a:t>
            </a:r>
            <a:r>
              <a:rPr lang="en-GB" sz="2000" b="0" i="0" u="none" strike="noStrike" baseline="0" dirty="0" err="1">
                <a:solidFill>
                  <a:schemeClr val="bg1"/>
                </a:solidFill>
                <a:latin typeface="Times New Roman" panose="02020603050405020304" pitchFamily="18" charset="0"/>
              </a:rPr>
              <a:t>Shrishail</a:t>
            </a:r>
            <a:r>
              <a:rPr lang="en-GB" sz="2000" b="0" i="0" u="none" strike="noStrike" baseline="0" dirty="0">
                <a:solidFill>
                  <a:schemeClr val="bg1"/>
                </a:solidFill>
                <a:latin typeface="Times New Roman" panose="02020603050405020304" pitchFamily="18" charset="0"/>
              </a:rPr>
              <a:t> Bhat</a:t>
            </a:r>
          </a:p>
          <a:p>
            <a:pPr algn="ctr"/>
            <a:r>
              <a:rPr lang="en-GB" sz="2000" b="0" i="0" u="none" strike="noStrike" baseline="0" dirty="0" err="1">
                <a:solidFill>
                  <a:schemeClr val="bg1"/>
                </a:solidFill>
                <a:latin typeface="Times New Roman" panose="02020603050405020304" pitchFamily="18" charset="0"/>
              </a:rPr>
              <a:t>Assitant</a:t>
            </a:r>
            <a:r>
              <a:rPr lang="en-GB" sz="2000" b="0" i="0" u="none" strike="noStrike" baseline="0" dirty="0">
                <a:solidFill>
                  <a:schemeClr val="bg1"/>
                </a:solidFill>
                <a:latin typeface="Times New Roman" panose="02020603050405020304" pitchFamily="18" charset="0"/>
              </a:rPr>
              <a:t> Professor, Dept. of ECE, AITM</a:t>
            </a:r>
            <a:endParaRPr lang="en-GB" sz="2000" dirty="0">
              <a:solidFill>
                <a:schemeClr val="bg1"/>
              </a:solidFill>
            </a:endParaRPr>
          </a:p>
          <a:p>
            <a:pPr algn="ctr"/>
            <a:endParaRPr lang="en-GB" dirty="0">
              <a:solidFill>
                <a:schemeClr val="bg1"/>
              </a:solidFill>
            </a:endParaRPr>
          </a:p>
        </p:txBody>
      </p:sp>
      <p:pic>
        <p:nvPicPr>
          <p:cNvPr id="3" name="Picture 2">
            <a:extLst>
              <a:ext uri="{FF2B5EF4-FFF2-40B4-BE49-F238E27FC236}">
                <a16:creationId xmlns:a16="http://schemas.microsoft.com/office/drawing/2014/main" id="{58C5F21F-8B20-4FAE-8330-2B16817E1561}"/>
              </a:ext>
            </a:extLst>
          </p:cNvPr>
          <p:cNvPicPr>
            <a:picLocks noChangeAspect="1"/>
          </p:cNvPicPr>
          <p:nvPr/>
        </p:nvPicPr>
        <p:blipFill>
          <a:blip r:embed="rId2"/>
          <a:stretch>
            <a:fillRect/>
          </a:stretch>
        </p:blipFill>
        <p:spPr>
          <a:xfrm>
            <a:off x="251106" y="360218"/>
            <a:ext cx="1356084" cy="1483217"/>
          </a:xfrm>
          <a:prstGeom prst="rect">
            <a:avLst/>
          </a:prstGeom>
        </p:spPr>
      </p:pic>
      <p:sp>
        <p:nvSpPr>
          <p:cNvPr id="8" name="TextBox 7">
            <a:extLst>
              <a:ext uri="{FF2B5EF4-FFF2-40B4-BE49-F238E27FC236}">
                <a16:creationId xmlns:a16="http://schemas.microsoft.com/office/drawing/2014/main" id="{F60F82B5-E226-46B3-B045-9A2E25FFCE1D}"/>
              </a:ext>
            </a:extLst>
          </p:cNvPr>
          <p:cNvSpPr txBox="1"/>
          <p:nvPr/>
        </p:nvSpPr>
        <p:spPr>
          <a:xfrm>
            <a:off x="2805546" y="1395536"/>
            <a:ext cx="6580909" cy="369332"/>
          </a:xfrm>
          <a:prstGeom prst="rect">
            <a:avLst/>
          </a:prstGeom>
          <a:noFill/>
        </p:spPr>
        <p:txBody>
          <a:bodyPr wrap="square">
            <a:spAutoFit/>
          </a:bodyPr>
          <a:lstStyle/>
          <a:p>
            <a:pPr algn="ctr"/>
            <a:r>
              <a:rPr lang="en-GB" dirty="0">
                <a:solidFill>
                  <a:schemeClr val="bg1"/>
                </a:solidFill>
              </a:rPr>
              <a:t>Basic Electronics </a:t>
            </a:r>
            <a:r>
              <a:rPr lang="en-GB">
                <a:solidFill>
                  <a:schemeClr val="bg1"/>
                </a:solidFill>
              </a:rPr>
              <a:t>(BBEE203)</a:t>
            </a:r>
            <a:endParaRPr lang="en-GB" dirty="0">
              <a:solidFill>
                <a:schemeClr val="bg1"/>
              </a:solidFill>
            </a:endParaRPr>
          </a:p>
        </p:txBody>
      </p:sp>
    </p:spTree>
    <p:extLst>
      <p:ext uri="{BB962C8B-B14F-4D97-AF65-F5344CB8AC3E}">
        <p14:creationId xmlns:p14="http://schemas.microsoft.com/office/powerpoint/2010/main" val="2672633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3425-423E-480F-A560-90E59395E0AB}"/>
              </a:ext>
            </a:extLst>
          </p:cNvPr>
          <p:cNvSpPr>
            <a:spLocks noGrp="1"/>
          </p:cNvSpPr>
          <p:nvPr>
            <p:ph type="title"/>
          </p:nvPr>
        </p:nvSpPr>
        <p:spPr>
          <a:xfrm>
            <a:off x="420505" y="601918"/>
            <a:ext cx="3203268" cy="590931"/>
          </a:xfrm>
        </p:spPr>
        <p:txBody>
          <a:bodyPr/>
          <a:lstStyle/>
          <a:p>
            <a:r>
              <a:rPr lang="en-GB" sz="3600" dirty="0">
                <a:latin typeface="Book Antiqua" panose="02040602050305030304" pitchFamily="18" charset="0"/>
              </a:rPr>
              <a:t>CONTENTS</a:t>
            </a:r>
          </a:p>
        </p:txBody>
      </p:sp>
      <p:sp>
        <p:nvSpPr>
          <p:cNvPr id="3" name="Content Placeholder 2">
            <a:extLst>
              <a:ext uri="{FF2B5EF4-FFF2-40B4-BE49-F238E27FC236}">
                <a16:creationId xmlns:a16="http://schemas.microsoft.com/office/drawing/2014/main" id="{0C7035F6-4086-4899-8580-7096C1214A39}"/>
              </a:ext>
            </a:extLst>
          </p:cNvPr>
          <p:cNvSpPr>
            <a:spLocks noGrp="1"/>
          </p:cNvSpPr>
          <p:nvPr>
            <p:ph idx="1"/>
          </p:nvPr>
        </p:nvSpPr>
        <p:spPr>
          <a:xfrm>
            <a:off x="443365" y="1242602"/>
            <a:ext cx="11215235" cy="5171091"/>
          </a:xfrm>
        </p:spPr>
        <p:txBody>
          <a:bodyPr>
            <a:normAutofit/>
          </a:bodyPr>
          <a:lstStyle/>
          <a:p>
            <a:r>
              <a:rPr lang="en-GB" dirty="0"/>
              <a:t>Introduction</a:t>
            </a:r>
          </a:p>
          <a:p>
            <a:r>
              <a:rPr lang="en-GB" dirty="0"/>
              <a:t>Objectives</a:t>
            </a:r>
          </a:p>
          <a:p>
            <a:r>
              <a:rPr lang="en-GB" dirty="0"/>
              <a:t>Methodology</a:t>
            </a:r>
          </a:p>
          <a:p>
            <a:pPr lvl="1"/>
            <a:r>
              <a:rPr lang="en-GB" dirty="0"/>
              <a:t>Components Details</a:t>
            </a:r>
          </a:p>
          <a:p>
            <a:pPr lvl="1"/>
            <a:r>
              <a:rPr lang="en-GB" dirty="0"/>
              <a:t>Implementation</a:t>
            </a:r>
          </a:p>
          <a:p>
            <a:r>
              <a:rPr lang="en-GB" dirty="0"/>
              <a:t>Results and Discussion</a:t>
            </a:r>
          </a:p>
          <a:p>
            <a:r>
              <a:rPr lang="en-GB" dirty="0"/>
              <a:t>Conclusion</a:t>
            </a:r>
          </a:p>
          <a:p>
            <a:r>
              <a:rPr lang="en-GB" dirty="0"/>
              <a:t>Scope for Future Work</a:t>
            </a:r>
          </a:p>
          <a:p>
            <a:endParaRPr lang="en-GB" dirty="0"/>
          </a:p>
        </p:txBody>
      </p:sp>
      <p:sp>
        <p:nvSpPr>
          <p:cNvPr id="4" name="Rectangle 3">
            <a:extLst>
              <a:ext uri="{FF2B5EF4-FFF2-40B4-BE49-F238E27FC236}">
                <a16:creationId xmlns:a16="http://schemas.microsoft.com/office/drawing/2014/main" id="{066E54EB-934C-4E62-85DC-56DBC45E4F0E}"/>
              </a:ext>
            </a:extLst>
          </p:cNvPr>
          <p:cNvSpPr/>
          <p:nvPr/>
        </p:nvSpPr>
        <p:spPr>
          <a:xfrm flipH="1">
            <a:off x="397646" y="426173"/>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1699175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4950B9-2786-43C5-A8BE-5B7A3919B929}"/>
              </a:ext>
            </a:extLst>
          </p:cNvPr>
          <p:cNvSpPr>
            <a:spLocks noGrp="1"/>
          </p:cNvSpPr>
          <p:nvPr>
            <p:ph type="title"/>
          </p:nvPr>
        </p:nvSpPr>
        <p:spPr>
          <a:xfrm>
            <a:off x="723106" y="2689715"/>
            <a:ext cx="10549141" cy="1478570"/>
          </a:xfrm>
        </p:spPr>
        <p:txBody>
          <a:bodyPr>
            <a:normAutofit/>
          </a:bodyPr>
          <a:lstStyle/>
          <a:p>
            <a:pPr algn="ctr"/>
            <a:r>
              <a:rPr lang="en-GB" sz="7200" b="1" dirty="0">
                <a:latin typeface="Book Antiqua" panose="02040602050305030304" pitchFamily="18" charset="0"/>
              </a:rPr>
              <a:t>INTRODUCTION</a:t>
            </a:r>
          </a:p>
        </p:txBody>
      </p:sp>
    </p:spTree>
    <p:extLst>
      <p:ext uri="{BB962C8B-B14F-4D97-AF65-F5344CB8AC3E}">
        <p14:creationId xmlns:p14="http://schemas.microsoft.com/office/powerpoint/2010/main" val="2737619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BF189FF9-FE54-48FB-A7BD-E1CE6D61EFB4}"/>
              </a:ext>
            </a:extLst>
          </p:cNvPr>
          <p:cNvSpPr>
            <a:spLocks noGrp="1"/>
          </p:cNvSpPr>
          <p:nvPr>
            <p:ph sz="half" idx="2"/>
          </p:nvPr>
        </p:nvSpPr>
        <p:spPr>
          <a:xfrm>
            <a:off x="508441" y="1920839"/>
            <a:ext cx="6639611" cy="4659248"/>
          </a:xfrm>
        </p:spPr>
        <p:txBody>
          <a:bodyPr>
            <a:normAutofit fontScale="92500" lnSpcReduction="10000"/>
          </a:bodyPr>
          <a:lstStyle/>
          <a:p>
            <a:r>
              <a:rPr lang="en-GB" sz="3100" dirty="0"/>
              <a:t>Water is a fundamental resource vital to human survival, agricultural productivity, industrial activities, and the health of ecosystems. However, water scarcity is an escalating global issue exacerbated by rapid population growth, urbanization, climate change, and inefficient water management practices. The need for effective water conservation and management strategies has never been more critical.</a:t>
            </a:r>
          </a:p>
        </p:txBody>
      </p:sp>
      <p:sp>
        <p:nvSpPr>
          <p:cNvPr id="5" name="TextBox 4">
            <a:extLst>
              <a:ext uri="{FF2B5EF4-FFF2-40B4-BE49-F238E27FC236}">
                <a16:creationId xmlns:a16="http://schemas.microsoft.com/office/drawing/2014/main" id="{59E5397D-0EA6-4E3F-BB79-7253026651EC}"/>
              </a:ext>
            </a:extLst>
          </p:cNvPr>
          <p:cNvSpPr txBox="1"/>
          <p:nvPr/>
        </p:nvSpPr>
        <p:spPr>
          <a:xfrm flipH="1">
            <a:off x="377423" y="545935"/>
            <a:ext cx="4109882" cy="646331"/>
          </a:xfrm>
          <a:prstGeom prst="rect">
            <a:avLst/>
          </a:prstGeom>
          <a:noFill/>
        </p:spPr>
        <p:txBody>
          <a:bodyPr wrap="square" rtlCol="0">
            <a:spAutoFit/>
          </a:bodyPr>
          <a:lstStyle/>
          <a:p>
            <a:pPr algn="ctr"/>
            <a:r>
              <a:rPr lang="en-GB" sz="3600" b="1" dirty="0">
                <a:solidFill>
                  <a:schemeClr val="bg1"/>
                </a:solidFill>
                <a:latin typeface="Book Antiqua" panose="02040602050305030304" pitchFamily="18" charset="0"/>
              </a:rPr>
              <a:t>INTRODUCTION</a:t>
            </a:r>
          </a:p>
        </p:txBody>
      </p:sp>
      <p:sp>
        <p:nvSpPr>
          <p:cNvPr id="6" name="Rectangle 5">
            <a:extLst>
              <a:ext uri="{FF2B5EF4-FFF2-40B4-BE49-F238E27FC236}">
                <a16:creationId xmlns:a16="http://schemas.microsoft.com/office/drawing/2014/main" id="{65449126-F435-4FF4-B0D3-5C38D144B133}"/>
              </a:ext>
            </a:extLst>
          </p:cNvPr>
          <p:cNvSpPr/>
          <p:nvPr/>
        </p:nvSpPr>
        <p:spPr>
          <a:xfrm flipH="1">
            <a:off x="354564" y="358561"/>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pic>
        <p:nvPicPr>
          <p:cNvPr id="1026" name="Picture 2" descr="India faces ‘worst-ever’ water crisis: report | Drought News | Al Jazeera">
            <a:extLst>
              <a:ext uri="{FF2B5EF4-FFF2-40B4-BE49-F238E27FC236}">
                <a16:creationId xmlns:a16="http://schemas.microsoft.com/office/drawing/2014/main" id="{32BBA491-7E82-4C82-9360-042C4808881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424738" y="2588310"/>
            <a:ext cx="4383087" cy="2206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452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3B9B5-E763-49CC-ADDA-359277810816}"/>
              </a:ext>
            </a:extLst>
          </p:cNvPr>
          <p:cNvSpPr>
            <a:spLocks noGrp="1"/>
          </p:cNvSpPr>
          <p:nvPr>
            <p:ph idx="1"/>
          </p:nvPr>
        </p:nvSpPr>
        <p:spPr>
          <a:xfrm>
            <a:off x="425244" y="1302772"/>
            <a:ext cx="9905999" cy="5555228"/>
          </a:xfrm>
        </p:spPr>
        <p:txBody>
          <a:bodyPr>
            <a:normAutofit/>
          </a:bodyPr>
          <a:lstStyle/>
          <a:p>
            <a:r>
              <a:rPr lang="en-GB" sz="2400" dirty="0"/>
              <a:t>In India, significant water loss occurs daily due to overflows from storage tanks and reservoirs, inefficient irrigation systems, and a general lack of real-time water level monitoring. According to estimates, approximately 45 million cubic meters of water are wasted every day in urban areas due to these inefficiencies. On a global scale, it is reported that about 30% of the world's water supply is wasted annually because of inefficient usage and inadequate monitoring systems. These alarming statistics underscore the urgent need for innovative solutions to address water wastage.</a:t>
            </a:r>
          </a:p>
          <a:p>
            <a:pPr>
              <a:buFont typeface="Wingdings" panose="05000000000000000000" pitchFamily="2" charset="2"/>
              <a:buChar char="q"/>
            </a:pPr>
            <a:r>
              <a:rPr lang="en-GB" sz="2400" dirty="0"/>
              <a:t>This project, the Ultrasonic Sensor-Based Water Level Measurement System, is designed to tackle these issues by offering a precise, real-time method for monitoring and managing water levels in various storage systems, such as tanks and reservoirs. By employing an HC-SR04 ultrasonic sensor, the system can accurately measure water levels and display this data on an LCD screen, providing users with immediate and actionable information</a:t>
            </a:r>
            <a:endParaRPr lang="en-GB" sz="3200" cap="none" dirty="0">
              <a:ea typeface="Cambria" panose="02040503050406030204" pitchFamily="18" charset="0"/>
            </a:endParaRPr>
          </a:p>
        </p:txBody>
      </p:sp>
    </p:spTree>
    <p:extLst>
      <p:ext uri="{BB962C8B-B14F-4D97-AF65-F5344CB8AC3E}">
        <p14:creationId xmlns:p14="http://schemas.microsoft.com/office/powerpoint/2010/main" val="409685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3A6337-8714-4B88-82A7-BE5535481422}"/>
              </a:ext>
            </a:extLst>
          </p:cNvPr>
          <p:cNvSpPr>
            <a:spLocks noGrp="1"/>
          </p:cNvSpPr>
          <p:nvPr>
            <p:ph type="title"/>
          </p:nvPr>
        </p:nvSpPr>
        <p:spPr>
          <a:xfrm>
            <a:off x="989420" y="2880852"/>
            <a:ext cx="7781544" cy="1185977"/>
          </a:xfrm>
        </p:spPr>
        <p:txBody>
          <a:bodyPr>
            <a:noAutofit/>
          </a:bodyPr>
          <a:lstStyle/>
          <a:p>
            <a:pPr algn="ctr"/>
            <a:r>
              <a:rPr lang="en-GB" sz="7200" b="1" dirty="0">
                <a:latin typeface="Book Antiqua" panose="02040602050305030304" pitchFamily="18" charset="0"/>
              </a:rPr>
              <a:t>OBJECTIVES</a:t>
            </a:r>
          </a:p>
        </p:txBody>
      </p:sp>
    </p:spTree>
    <p:extLst>
      <p:ext uri="{BB962C8B-B14F-4D97-AF65-F5344CB8AC3E}">
        <p14:creationId xmlns:p14="http://schemas.microsoft.com/office/powerpoint/2010/main" val="3337359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865E41-085F-4D4B-B0C1-AB2E491F6144}"/>
              </a:ext>
            </a:extLst>
          </p:cNvPr>
          <p:cNvSpPr txBox="1"/>
          <p:nvPr/>
        </p:nvSpPr>
        <p:spPr>
          <a:xfrm flipH="1">
            <a:off x="354564" y="545935"/>
            <a:ext cx="3165987" cy="646331"/>
          </a:xfrm>
          <a:prstGeom prst="rect">
            <a:avLst/>
          </a:prstGeom>
          <a:noFill/>
        </p:spPr>
        <p:txBody>
          <a:bodyPr wrap="square" rtlCol="0">
            <a:spAutoFit/>
          </a:bodyPr>
          <a:lstStyle/>
          <a:p>
            <a:pPr algn="ctr"/>
            <a:r>
              <a:rPr lang="en-GB" sz="3600" b="1" dirty="0">
                <a:solidFill>
                  <a:schemeClr val="bg1"/>
                </a:solidFill>
                <a:latin typeface="Book Antiqua" panose="02040602050305030304" pitchFamily="18" charset="0"/>
              </a:rPr>
              <a:t>OBJECTIVES</a:t>
            </a:r>
          </a:p>
        </p:txBody>
      </p:sp>
      <p:sp>
        <p:nvSpPr>
          <p:cNvPr id="11" name="Rectangle 10">
            <a:extLst>
              <a:ext uri="{FF2B5EF4-FFF2-40B4-BE49-F238E27FC236}">
                <a16:creationId xmlns:a16="http://schemas.microsoft.com/office/drawing/2014/main" id="{EEEF7A3D-9D2A-4049-9F6C-E6C324B42402}"/>
              </a:ext>
            </a:extLst>
          </p:cNvPr>
          <p:cNvSpPr/>
          <p:nvPr/>
        </p:nvSpPr>
        <p:spPr>
          <a:xfrm flipH="1">
            <a:off x="354564" y="397890"/>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
        <p:nvSpPr>
          <p:cNvPr id="5" name="Rectangle 2">
            <a:extLst>
              <a:ext uri="{FF2B5EF4-FFF2-40B4-BE49-F238E27FC236}">
                <a16:creationId xmlns:a16="http://schemas.microsoft.com/office/drawing/2014/main" id="{E4AEA4AE-C8AA-47C4-84F3-5CD479DD102B}"/>
              </a:ext>
            </a:extLst>
          </p:cNvPr>
          <p:cNvSpPr>
            <a:spLocks noGrp="1" noChangeArrowheads="1"/>
          </p:cNvSpPr>
          <p:nvPr>
            <p:ph idx="1"/>
          </p:nvPr>
        </p:nvSpPr>
        <p:spPr bwMode="auto">
          <a:xfrm>
            <a:off x="163285" y="1469026"/>
            <a:ext cx="1178433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u="sng" dirty="0"/>
              <a:t>Accurate Measurement: </a:t>
            </a:r>
            <a:r>
              <a:rPr lang="en-US" altLang="en-US" dirty="0"/>
              <a:t>To achieve precise measurement of water levels in storage containers using the HC-SR04 ultrasonic sensor, ensuring reliable data for effective water management.</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u="sng" dirty="0"/>
              <a:t>Real-Time Monitoring: </a:t>
            </a:r>
            <a:r>
              <a:rPr lang="en-US" altLang="en-US" dirty="0"/>
              <a:t>To facilitate real-time water level monitoring by displaying up-to-date information on an LCD screen, enabling users to make timely decisions.</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dirty="0"/>
              <a:t>C</a:t>
            </a:r>
            <a:r>
              <a:rPr lang="en-US" altLang="en-US" b="1" u="sng" dirty="0"/>
              <a:t>ost-Effectiveness: </a:t>
            </a:r>
            <a:r>
              <a:rPr lang="en-US" altLang="en-US" dirty="0"/>
              <a:t>To develop a low-cost solution that can be easily adopted in both domestic and industrial settings, making advanced water monitoring accessible to a broader audience.</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u="sng" dirty="0"/>
              <a:t>User-Friendly Design: </a:t>
            </a:r>
            <a:r>
              <a:rPr lang="en-US" altLang="en-US" dirty="0"/>
              <a:t>To create a system that is easy to set up, operate, and maintain, requiring minimal technical expertise from the user. </a:t>
            </a:r>
          </a:p>
        </p:txBody>
      </p:sp>
    </p:spTree>
    <p:extLst>
      <p:ext uri="{BB962C8B-B14F-4D97-AF65-F5344CB8AC3E}">
        <p14:creationId xmlns:p14="http://schemas.microsoft.com/office/powerpoint/2010/main" val="2074046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0D716C-ECF9-4335-9966-F53FCD9287AC}"/>
              </a:ext>
            </a:extLst>
          </p:cNvPr>
          <p:cNvSpPr>
            <a:spLocks noGrp="1"/>
          </p:cNvSpPr>
          <p:nvPr>
            <p:ph type="title"/>
          </p:nvPr>
        </p:nvSpPr>
        <p:spPr>
          <a:xfrm>
            <a:off x="-524748" y="2035278"/>
            <a:ext cx="10573315" cy="2542829"/>
          </a:xfrm>
        </p:spPr>
        <p:txBody>
          <a:bodyPr>
            <a:noAutofit/>
          </a:bodyPr>
          <a:lstStyle/>
          <a:p>
            <a:pPr algn="ctr"/>
            <a:r>
              <a:rPr lang="en-GB" sz="7200" dirty="0">
                <a:latin typeface="Book Antiqua" panose="02040602050305030304" pitchFamily="18" charset="0"/>
              </a:rPr>
              <a:t>METHODOLOGY</a:t>
            </a:r>
          </a:p>
        </p:txBody>
      </p:sp>
    </p:spTree>
    <p:extLst>
      <p:ext uri="{BB962C8B-B14F-4D97-AF65-F5344CB8AC3E}">
        <p14:creationId xmlns:p14="http://schemas.microsoft.com/office/powerpoint/2010/main" val="304786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0A5808-A10F-494B-AAFE-3848BA2C261A}"/>
              </a:ext>
            </a:extLst>
          </p:cNvPr>
          <p:cNvSpPr>
            <a:spLocks noGrp="1"/>
          </p:cNvSpPr>
          <p:nvPr>
            <p:ph type="title"/>
          </p:nvPr>
        </p:nvSpPr>
        <p:spPr>
          <a:xfrm>
            <a:off x="400283" y="573635"/>
            <a:ext cx="4186494" cy="590931"/>
          </a:xfrm>
        </p:spPr>
        <p:txBody>
          <a:bodyPr/>
          <a:lstStyle/>
          <a:p>
            <a:r>
              <a:rPr lang="en-GB" sz="3600" dirty="0">
                <a:latin typeface="Book Antiqua" panose="02040602050305030304" pitchFamily="18" charset="0"/>
              </a:rPr>
              <a:t>METHODOLOGY</a:t>
            </a:r>
          </a:p>
        </p:txBody>
      </p:sp>
      <p:sp>
        <p:nvSpPr>
          <p:cNvPr id="5" name="Content Placeholder 4">
            <a:extLst>
              <a:ext uri="{FF2B5EF4-FFF2-40B4-BE49-F238E27FC236}">
                <a16:creationId xmlns:a16="http://schemas.microsoft.com/office/drawing/2014/main" id="{13617B52-88A8-4924-BE60-84F86A38B836}"/>
              </a:ext>
            </a:extLst>
          </p:cNvPr>
          <p:cNvSpPr>
            <a:spLocks noGrp="1"/>
          </p:cNvSpPr>
          <p:nvPr>
            <p:ph idx="1"/>
          </p:nvPr>
        </p:nvSpPr>
        <p:spPr>
          <a:xfrm>
            <a:off x="377423" y="2212766"/>
            <a:ext cx="11215235" cy="2432468"/>
          </a:xfrm>
        </p:spPr>
        <p:txBody>
          <a:bodyPr>
            <a:normAutofit/>
          </a:bodyPr>
          <a:lstStyle/>
          <a:p>
            <a:pPr marL="0" indent="0">
              <a:buNone/>
            </a:pPr>
            <a:r>
              <a:rPr lang="en-GB" sz="2400" dirty="0"/>
              <a:t>The Ultrasonic Sensor-Based Water Level Measurement System is designed to provide accurate and real-time water level measurements using an ultrasonic sensor and an LCD display. The methodology involves the integration of various hardware components, programming the Arduino microcontroller, and ensuring seamless communication between the sensor and the display. The process can be divided into three main parts: the working principle, the implementation, and testing and calibration.</a:t>
            </a:r>
            <a:endParaRPr lang="en-GB" sz="3600" dirty="0"/>
          </a:p>
        </p:txBody>
      </p:sp>
      <p:sp>
        <p:nvSpPr>
          <p:cNvPr id="7" name="Rectangle 6">
            <a:extLst>
              <a:ext uri="{FF2B5EF4-FFF2-40B4-BE49-F238E27FC236}">
                <a16:creationId xmlns:a16="http://schemas.microsoft.com/office/drawing/2014/main" id="{2EC60848-86CC-4907-9058-C3BB138C81CD}"/>
              </a:ext>
            </a:extLst>
          </p:cNvPr>
          <p:cNvSpPr/>
          <p:nvPr/>
        </p:nvSpPr>
        <p:spPr>
          <a:xfrm flipH="1">
            <a:off x="354564" y="397890"/>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835037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485C1DC-7EA1-4A0E-8D5A-E0896344DF78}"/>
              </a:ext>
            </a:extLst>
          </p:cNvPr>
          <p:cNvSpPr>
            <a:spLocks noGrp="1"/>
          </p:cNvSpPr>
          <p:nvPr>
            <p:ph type="body" idx="1"/>
          </p:nvPr>
        </p:nvSpPr>
        <p:spPr>
          <a:xfrm>
            <a:off x="906385" y="1445408"/>
            <a:ext cx="3403224" cy="625492"/>
          </a:xfrm>
        </p:spPr>
        <p:txBody>
          <a:bodyPr>
            <a:normAutofit/>
          </a:bodyPr>
          <a:lstStyle/>
          <a:p>
            <a:pPr algn="l"/>
            <a:r>
              <a:rPr lang="en-IN" sz="2800" dirty="0"/>
              <a:t>Working Principle:</a:t>
            </a:r>
            <a:endParaRPr lang="en-GB" sz="2800" b="1" dirty="0">
              <a:solidFill>
                <a:schemeClr val="accent5">
                  <a:lumMod val="40000"/>
                  <a:lumOff val="60000"/>
                </a:schemeClr>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AAB39911-0AC9-44B5-9160-FA30C350A01B}"/>
              </a:ext>
            </a:extLst>
          </p:cNvPr>
          <p:cNvSpPr txBox="1"/>
          <p:nvPr/>
        </p:nvSpPr>
        <p:spPr>
          <a:xfrm>
            <a:off x="400283" y="397890"/>
            <a:ext cx="5407742" cy="646331"/>
          </a:xfrm>
          <a:prstGeom prst="rect">
            <a:avLst/>
          </a:prstGeom>
          <a:noFill/>
        </p:spPr>
        <p:txBody>
          <a:bodyPr wrap="square" rtlCol="0">
            <a:spAutoFit/>
          </a:bodyPr>
          <a:lstStyle/>
          <a:p>
            <a:r>
              <a:rPr lang="en-GB" sz="3600" b="1" dirty="0">
                <a:solidFill>
                  <a:schemeClr val="bg1"/>
                </a:solidFill>
                <a:latin typeface="Book Antiqua" panose="02040602050305030304" pitchFamily="18" charset="0"/>
              </a:rPr>
              <a:t>METHODOLOGY</a:t>
            </a:r>
          </a:p>
        </p:txBody>
      </p:sp>
      <p:sp>
        <p:nvSpPr>
          <p:cNvPr id="9" name="TextBox 8">
            <a:extLst>
              <a:ext uri="{FF2B5EF4-FFF2-40B4-BE49-F238E27FC236}">
                <a16:creationId xmlns:a16="http://schemas.microsoft.com/office/drawing/2014/main" id="{EF9DA4D7-00A9-4586-84D2-8D11D5C43C4C}"/>
              </a:ext>
            </a:extLst>
          </p:cNvPr>
          <p:cNvSpPr txBox="1"/>
          <p:nvPr/>
        </p:nvSpPr>
        <p:spPr>
          <a:xfrm>
            <a:off x="446002" y="916493"/>
            <a:ext cx="9576619" cy="461665"/>
          </a:xfrm>
          <a:prstGeom prst="rect">
            <a:avLst/>
          </a:prstGeom>
          <a:noFill/>
        </p:spPr>
        <p:txBody>
          <a:bodyPr wrap="square" rtlCol="0">
            <a:spAutoFit/>
          </a:bodyPr>
          <a:lstStyle/>
          <a:p>
            <a:r>
              <a:rPr lang="en-GB" sz="2400" b="1" dirty="0">
                <a:solidFill>
                  <a:schemeClr val="bg1"/>
                </a:solidFill>
                <a:latin typeface="Book Antiqua" panose="02040602050305030304" pitchFamily="18" charset="0"/>
              </a:rPr>
              <a:t>COMPONENTS DETAILS</a:t>
            </a:r>
          </a:p>
        </p:txBody>
      </p:sp>
      <p:sp>
        <p:nvSpPr>
          <p:cNvPr id="10" name="Rectangle 9">
            <a:extLst>
              <a:ext uri="{FF2B5EF4-FFF2-40B4-BE49-F238E27FC236}">
                <a16:creationId xmlns:a16="http://schemas.microsoft.com/office/drawing/2014/main" id="{1ACF2C6C-EFCF-4196-AA4C-2BF5DA0B02C2}"/>
              </a:ext>
            </a:extLst>
          </p:cNvPr>
          <p:cNvSpPr/>
          <p:nvPr/>
        </p:nvSpPr>
        <p:spPr>
          <a:xfrm flipH="1">
            <a:off x="354564" y="397890"/>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
        <p:nvSpPr>
          <p:cNvPr id="18" name="Rectangle 4">
            <a:extLst>
              <a:ext uri="{FF2B5EF4-FFF2-40B4-BE49-F238E27FC236}">
                <a16:creationId xmlns:a16="http://schemas.microsoft.com/office/drawing/2014/main" id="{1ADBE59C-F3AD-4849-8A98-6734BDFE97F3}"/>
              </a:ext>
            </a:extLst>
          </p:cNvPr>
          <p:cNvSpPr>
            <a:spLocks noGrp="1" noChangeArrowheads="1"/>
          </p:cNvSpPr>
          <p:nvPr>
            <p:ph sz="half" idx="2"/>
          </p:nvPr>
        </p:nvSpPr>
        <p:spPr bwMode="auto">
          <a:xfrm>
            <a:off x="612979" y="2070900"/>
            <a:ext cx="7543374" cy="4372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dirty="0"/>
              <a:t> Ultrasonic Sensing: The HC-SR04 ultrasonic sensor emits a high-frequency sound wave (ultrasonic pulse) when triggered by the Arduino. This pulse travels through the air and reflects off the surface of the water. The sensor then detects the reflected pulse (echo) and measures the time it takes for the pulse to return.</a:t>
            </a:r>
            <a:endParaRPr lang="en-GB" b="1" dirty="0"/>
          </a:p>
          <a:p>
            <a:r>
              <a:rPr lang="en-GB" b="1" dirty="0"/>
              <a:t>Distance Calculation</a:t>
            </a:r>
            <a:r>
              <a:rPr lang="en-GB" dirty="0"/>
              <a:t>: The Arduino calculates the distance between the sensor and the water surface using the time it took for the echo to return. The formula used is:</a:t>
            </a:r>
          </a:p>
          <a:p>
            <a:r>
              <a:rPr lang="en-GB" dirty="0"/>
              <a:t>Distance=Time × Speed of Sound / 2</a:t>
            </a:r>
          </a:p>
          <a:p>
            <a:r>
              <a:rPr lang="en-GB" b="1" dirty="0"/>
              <a:t>Data Display</a:t>
            </a:r>
            <a:r>
              <a:rPr lang="en-GB" dirty="0"/>
              <a:t>: The calculated distance is then displayed on the LiquidCrystal_I2C LCD. If the distance is below a certain threshold, the system can also display additional information such as a warning message or a calculated difference (reset distance).</a:t>
            </a:r>
          </a:p>
          <a:p>
            <a:endParaRPr lang="en-US" altLang="en-US" dirty="0"/>
          </a:p>
          <a:p>
            <a:pPr marL="0" marR="0" lvl="0" indent="0" defTabSz="914400" rtl="0" eaLnBrk="0" fontAlgn="base" latinLnBrk="0" hangingPunct="0">
              <a:lnSpc>
                <a:spcPct val="100000"/>
              </a:lnSpc>
              <a:spcBef>
                <a:spcPct val="0"/>
              </a:spcBef>
              <a:spcAft>
                <a:spcPct val="0"/>
              </a:spcAft>
              <a:buClrTx/>
              <a:buSzTx/>
              <a:buFontTx/>
              <a:buChar char="•"/>
              <a:tabLst/>
            </a:pPr>
            <a:endParaRPr lang="en-US" altLang="en-US" dirty="0"/>
          </a:p>
        </p:txBody>
      </p:sp>
    </p:spTree>
    <p:extLst>
      <p:ext uri="{BB962C8B-B14F-4D97-AF65-F5344CB8AC3E}">
        <p14:creationId xmlns:p14="http://schemas.microsoft.com/office/powerpoint/2010/main" val="2828485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3DDD2-5087-4400-867C-7ED4605A3E37}"/>
              </a:ext>
            </a:extLst>
          </p:cNvPr>
          <p:cNvSpPr>
            <a:spLocks noGrp="1"/>
          </p:cNvSpPr>
          <p:nvPr>
            <p:ph type="title"/>
          </p:nvPr>
        </p:nvSpPr>
        <p:spPr>
          <a:xfrm>
            <a:off x="218358" y="353961"/>
            <a:ext cx="11214100" cy="2308324"/>
          </a:xfrm>
        </p:spPr>
        <p:txBody>
          <a:bodyPr/>
          <a:lstStyle/>
          <a:p>
            <a:br>
              <a:rPr lang="en-GB" sz="2000" b="0" i="0" u="none" strike="noStrike" baseline="0" dirty="0">
                <a:latin typeface="+mn-lt"/>
              </a:rPr>
            </a:br>
            <a:r>
              <a:rPr lang="nn-NO" sz="2000" b="0" i="0" u="none" strike="noStrike" baseline="0" dirty="0">
                <a:latin typeface="+mn-lt"/>
              </a:rPr>
              <a:t>1. </a:t>
            </a:r>
            <a:r>
              <a:rPr lang="nn-NO" sz="2000" b="1" i="0" u="none" strike="noStrike" baseline="0" dirty="0">
                <a:latin typeface="+mn-lt"/>
              </a:rPr>
              <a:t>Microcontroller                                           :  </a:t>
            </a:r>
            <a:r>
              <a:rPr lang="nn-NO" sz="2000" b="0" i="0" u="none" strike="noStrike" baseline="0" dirty="0">
                <a:latin typeface="+mn-lt"/>
              </a:rPr>
              <a:t>Arduino UNO</a:t>
            </a:r>
            <a:br>
              <a:rPr lang="nn-NO" sz="2000" b="0" i="0" u="none" strike="noStrike" baseline="0" dirty="0">
                <a:latin typeface="+mn-lt"/>
              </a:rPr>
            </a:br>
            <a:br>
              <a:rPr lang="nn-NO" sz="2000" b="0" i="0" u="none" strike="noStrike" baseline="0" dirty="0">
                <a:latin typeface="+mn-lt"/>
              </a:rPr>
            </a:br>
            <a:r>
              <a:rPr lang="en-GB" sz="2000" b="0" i="0" u="none" strike="noStrike" baseline="0" dirty="0">
                <a:latin typeface="+mn-lt"/>
              </a:rPr>
              <a:t>2. </a:t>
            </a:r>
            <a:r>
              <a:rPr lang="en-GB" sz="2000" b="1" i="0" u="none" strike="noStrike" baseline="0" dirty="0">
                <a:latin typeface="+mn-lt"/>
              </a:rPr>
              <a:t>Operating Voltage(logic level)                 : </a:t>
            </a:r>
            <a:r>
              <a:rPr lang="en-GB" sz="2000" b="0" i="0" u="none" strike="noStrike" baseline="0" dirty="0">
                <a:latin typeface="+mn-lt"/>
              </a:rPr>
              <a:t>5 V </a:t>
            </a:r>
            <a:br>
              <a:rPr lang="en-GB" sz="2000" b="0" i="0" u="none" strike="noStrike" baseline="0" dirty="0">
                <a:latin typeface="+mn-lt"/>
              </a:rPr>
            </a:br>
            <a:br>
              <a:rPr lang="en-GB" sz="2000" b="0" i="0" u="none" strike="noStrike" baseline="0" dirty="0">
                <a:latin typeface="+mn-lt"/>
              </a:rPr>
            </a:br>
            <a:r>
              <a:rPr lang="en-GB" sz="2000" b="0" i="0" u="none" strike="noStrike" baseline="0" dirty="0">
                <a:latin typeface="+mn-lt"/>
              </a:rPr>
              <a:t>3. </a:t>
            </a:r>
            <a:r>
              <a:rPr lang="en-GB" sz="2000" b="1" i="0" u="none" strike="noStrike" baseline="0" dirty="0">
                <a:latin typeface="+mn-lt"/>
              </a:rPr>
              <a:t>Input Voltage(recommended)                 : </a:t>
            </a:r>
            <a:r>
              <a:rPr lang="en-GB" sz="2000" b="0" i="0" u="none" strike="noStrike" baseline="0" dirty="0">
                <a:latin typeface="+mn-lt"/>
              </a:rPr>
              <a:t>12 V </a:t>
            </a:r>
            <a:br>
              <a:rPr lang="en-GB" sz="2000" b="0" i="0" u="none" strike="noStrike" baseline="0" dirty="0">
                <a:latin typeface="+mn-lt"/>
              </a:rPr>
            </a:br>
            <a:br>
              <a:rPr lang="en-GB" sz="2000" b="0" i="0" u="none" strike="noStrike" baseline="0" dirty="0">
                <a:latin typeface="+mn-lt"/>
              </a:rPr>
            </a:br>
            <a:r>
              <a:rPr lang="fr-FR" sz="2000" b="0" i="0" u="none" strike="noStrike" baseline="0" dirty="0">
                <a:latin typeface="+mn-lt"/>
              </a:rPr>
              <a:t>4. </a:t>
            </a:r>
            <a:r>
              <a:rPr lang="fr-FR" sz="2000" b="1" i="0" u="none" strike="noStrike" baseline="0" dirty="0">
                <a:latin typeface="+mn-lt"/>
              </a:rPr>
              <a:t>Input Voltage(</a:t>
            </a:r>
            <a:r>
              <a:rPr lang="fr-FR" sz="2000" b="1" i="0" u="none" strike="noStrike" baseline="0" dirty="0" err="1">
                <a:latin typeface="+mn-lt"/>
              </a:rPr>
              <a:t>limits</a:t>
            </a:r>
            <a:r>
              <a:rPr lang="fr-FR" sz="2000" b="1" i="0" u="none" strike="noStrike" baseline="0" dirty="0">
                <a:latin typeface="+mn-lt"/>
              </a:rPr>
              <a:t>)                                  : </a:t>
            </a:r>
            <a:r>
              <a:rPr lang="fr-FR" sz="2000" b="0" i="0" u="none" strike="noStrike" baseline="0" dirty="0">
                <a:latin typeface="+mn-lt"/>
              </a:rPr>
              <a:t>12 V </a:t>
            </a:r>
            <a:endParaRPr lang="en-GB" sz="3600" dirty="0">
              <a:latin typeface="+mn-lt"/>
            </a:endParaRPr>
          </a:p>
        </p:txBody>
      </p:sp>
    </p:spTree>
    <p:extLst>
      <p:ext uri="{BB962C8B-B14F-4D97-AF65-F5344CB8AC3E}">
        <p14:creationId xmlns:p14="http://schemas.microsoft.com/office/powerpoint/2010/main" val="1047203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4B1A03-B1F2-4F53-BAD6-BCF72B561608}"/>
              </a:ext>
            </a:extLst>
          </p:cNvPr>
          <p:cNvSpPr txBox="1"/>
          <p:nvPr/>
        </p:nvSpPr>
        <p:spPr>
          <a:xfrm flipH="1">
            <a:off x="3874143" y="111115"/>
            <a:ext cx="4919571" cy="646331"/>
          </a:xfrm>
          <a:prstGeom prst="rect">
            <a:avLst/>
          </a:prstGeom>
          <a:noFill/>
        </p:spPr>
        <p:txBody>
          <a:bodyPr wrap="square" rtlCol="0">
            <a:spAutoFit/>
          </a:bodyPr>
          <a:lstStyle/>
          <a:p>
            <a:r>
              <a:rPr lang="en-GB" sz="3600" b="1" dirty="0">
                <a:solidFill>
                  <a:schemeClr val="bg1"/>
                </a:solidFill>
                <a:latin typeface="Book Antiqua" panose="02040602050305030304" pitchFamily="18" charset="0"/>
              </a:rPr>
              <a:t>METHODOLOGY</a:t>
            </a:r>
          </a:p>
        </p:txBody>
      </p:sp>
      <p:sp>
        <p:nvSpPr>
          <p:cNvPr id="3" name="TextBox 2">
            <a:extLst>
              <a:ext uri="{FF2B5EF4-FFF2-40B4-BE49-F238E27FC236}">
                <a16:creationId xmlns:a16="http://schemas.microsoft.com/office/drawing/2014/main" id="{CEEB42D4-B768-462E-91FB-A74E82B51CBE}"/>
              </a:ext>
            </a:extLst>
          </p:cNvPr>
          <p:cNvSpPr txBox="1"/>
          <p:nvPr/>
        </p:nvSpPr>
        <p:spPr>
          <a:xfrm flipH="1">
            <a:off x="3878488" y="661434"/>
            <a:ext cx="3916375" cy="461665"/>
          </a:xfrm>
          <a:prstGeom prst="rect">
            <a:avLst/>
          </a:prstGeom>
          <a:noFill/>
        </p:spPr>
        <p:txBody>
          <a:bodyPr wrap="square" rtlCol="0">
            <a:spAutoFit/>
          </a:bodyPr>
          <a:lstStyle/>
          <a:p>
            <a:r>
              <a:rPr lang="en-GB" sz="2400" b="1" dirty="0">
                <a:solidFill>
                  <a:schemeClr val="bg1"/>
                </a:solidFill>
                <a:latin typeface="Book Antiqua" panose="02040602050305030304" pitchFamily="18" charset="0"/>
              </a:rPr>
              <a:t>IMPLEMENTATION</a:t>
            </a:r>
          </a:p>
        </p:txBody>
      </p:sp>
      <p:sp>
        <p:nvSpPr>
          <p:cNvPr id="4" name="TextBox 3">
            <a:extLst>
              <a:ext uri="{FF2B5EF4-FFF2-40B4-BE49-F238E27FC236}">
                <a16:creationId xmlns:a16="http://schemas.microsoft.com/office/drawing/2014/main" id="{BA01F15E-6A91-4FD7-BBB5-02DDB652430D}"/>
              </a:ext>
            </a:extLst>
          </p:cNvPr>
          <p:cNvSpPr txBox="1"/>
          <p:nvPr/>
        </p:nvSpPr>
        <p:spPr>
          <a:xfrm flipH="1">
            <a:off x="1681841" y="1824224"/>
            <a:ext cx="10249445" cy="4401205"/>
          </a:xfrm>
          <a:prstGeom prst="rect">
            <a:avLst/>
          </a:prstGeom>
          <a:noFill/>
        </p:spPr>
        <p:txBody>
          <a:bodyPr wrap="square" rtlCol="0">
            <a:spAutoFit/>
          </a:bodyPr>
          <a:lstStyle/>
          <a:p>
            <a:r>
              <a:rPr lang="en-GB" sz="2800" b="1" dirty="0">
                <a:solidFill>
                  <a:schemeClr val="bg1"/>
                </a:solidFill>
                <a:latin typeface="Book Antiqua" panose="02040602050305030304" pitchFamily="18" charset="0"/>
              </a:rPr>
              <a:t>Hardware Setup : </a:t>
            </a:r>
          </a:p>
          <a:p>
            <a:pPr marL="800100" lvl="1" indent="-342900">
              <a:buFont typeface="Arial" panose="020B0604020202020204" pitchFamily="34" charset="0"/>
              <a:buChar char="•"/>
            </a:pPr>
            <a:r>
              <a:rPr lang="en-GB" sz="2400" b="1" i="1" dirty="0">
                <a:solidFill>
                  <a:schemeClr val="bg1"/>
                </a:solidFill>
                <a:latin typeface="Book Antiqua" panose="02040602050305030304" pitchFamily="18" charset="0"/>
              </a:rPr>
              <a:t>Connecting the Ultrasonic Sensor: </a:t>
            </a:r>
            <a:r>
              <a:rPr lang="en-GB" sz="2000" dirty="0">
                <a:solidFill>
                  <a:schemeClr val="bg1"/>
                </a:solidFill>
                <a:latin typeface="Book Antiqua" panose="02040602050305030304" pitchFamily="18" charset="0"/>
              </a:rPr>
              <a:t>Connect the VCC and GND pins of the HC-SR04 sensor to the 5V and GND pins of the Arduino, respectively. Connect the Trig pin to a digital output pin (e.g., pin 12) and the Echo pin to a digital input pin (e.g., pin 10).</a:t>
            </a:r>
          </a:p>
          <a:p>
            <a:pPr lvl="1"/>
            <a:endParaRPr lang="en-GB" sz="2000" dirty="0">
              <a:solidFill>
                <a:schemeClr val="bg1"/>
              </a:solidFill>
              <a:latin typeface="Book Antiqua" panose="02040602050305030304" pitchFamily="18" charset="0"/>
            </a:endParaRPr>
          </a:p>
          <a:p>
            <a:pPr marL="800100" lvl="1" indent="-342900">
              <a:buFont typeface="Arial" panose="020B0604020202020204" pitchFamily="34" charset="0"/>
              <a:buChar char="•"/>
            </a:pPr>
            <a:r>
              <a:rPr lang="en-GB" sz="2400" b="1" i="1" dirty="0">
                <a:solidFill>
                  <a:schemeClr val="bg1"/>
                </a:solidFill>
                <a:latin typeface="Book Antiqua" panose="02040602050305030304" pitchFamily="18" charset="0"/>
              </a:rPr>
              <a:t>Connecting the LCD Display: </a:t>
            </a:r>
            <a:r>
              <a:rPr lang="en-GB" sz="2000" dirty="0">
                <a:solidFill>
                  <a:schemeClr val="bg1"/>
                </a:solidFill>
                <a:latin typeface="Book Antiqua" panose="02040602050305030304" pitchFamily="18" charset="0"/>
              </a:rPr>
              <a:t>Connect the I2C pins of the LCD (SDA and SCL) to the corresponding I2C pins on the Arduino (A4 and A5 on the Uno). Also, connect the VCC and GND pins of the LCD to the 5V and GND pins on the Arduino.</a:t>
            </a:r>
          </a:p>
          <a:p>
            <a:pPr lvl="1"/>
            <a:endParaRPr lang="en-GB" sz="2000" dirty="0">
              <a:solidFill>
                <a:schemeClr val="bg1"/>
              </a:solidFill>
              <a:latin typeface="Book Antiqua" panose="02040602050305030304" pitchFamily="18" charset="0"/>
            </a:endParaRPr>
          </a:p>
          <a:p>
            <a:pPr marL="800100" lvl="1" indent="-342900">
              <a:buFont typeface="Arial" panose="020B0604020202020204" pitchFamily="34" charset="0"/>
              <a:buChar char="•"/>
            </a:pPr>
            <a:r>
              <a:rPr lang="en-GB" sz="2400" b="1" i="1" dirty="0">
                <a:solidFill>
                  <a:schemeClr val="bg1"/>
                </a:solidFill>
                <a:latin typeface="Book Antiqua" panose="02040602050305030304" pitchFamily="18" charset="0"/>
              </a:rPr>
              <a:t>Power Supply: </a:t>
            </a:r>
            <a:r>
              <a:rPr lang="en-GB" sz="2000" dirty="0">
                <a:solidFill>
                  <a:schemeClr val="bg1"/>
                </a:solidFill>
                <a:latin typeface="Book Antiqua" panose="02040602050305030304" pitchFamily="18" charset="0"/>
              </a:rPr>
              <a:t>Ensure the Arduino is powered by external power source connected to the pump via motor driver.</a:t>
            </a:r>
          </a:p>
        </p:txBody>
      </p:sp>
      <p:sp>
        <p:nvSpPr>
          <p:cNvPr id="6" name="Rectangle 5">
            <a:extLst>
              <a:ext uri="{FF2B5EF4-FFF2-40B4-BE49-F238E27FC236}">
                <a16:creationId xmlns:a16="http://schemas.microsoft.com/office/drawing/2014/main" id="{6255D163-895B-44CB-BB8E-F51096C87832}"/>
              </a:ext>
            </a:extLst>
          </p:cNvPr>
          <p:cNvSpPr/>
          <p:nvPr/>
        </p:nvSpPr>
        <p:spPr>
          <a:xfrm flipH="1">
            <a:off x="3757356" y="180677"/>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327019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4B1A03-B1F2-4F53-BAD6-BCF72B561608}"/>
              </a:ext>
            </a:extLst>
          </p:cNvPr>
          <p:cNvSpPr txBox="1"/>
          <p:nvPr/>
        </p:nvSpPr>
        <p:spPr>
          <a:xfrm flipH="1">
            <a:off x="3874143" y="111115"/>
            <a:ext cx="4919571" cy="646331"/>
          </a:xfrm>
          <a:prstGeom prst="rect">
            <a:avLst/>
          </a:prstGeom>
          <a:noFill/>
        </p:spPr>
        <p:txBody>
          <a:bodyPr wrap="square" rtlCol="0">
            <a:spAutoFit/>
          </a:bodyPr>
          <a:lstStyle/>
          <a:p>
            <a:r>
              <a:rPr lang="en-GB" sz="3600" b="1" dirty="0">
                <a:solidFill>
                  <a:schemeClr val="bg1"/>
                </a:solidFill>
                <a:latin typeface="Book Antiqua" panose="02040602050305030304" pitchFamily="18" charset="0"/>
              </a:rPr>
              <a:t>METHODOLOGY</a:t>
            </a:r>
          </a:p>
        </p:txBody>
      </p:sp>
      <p:sp>
        <p:nvSpPr>
          <p:cNvPr id="3" name="TextBox 2">
            <a:extLst>
              <a:ext uri="{FF2B5EF4-FFF2-40B4-BE49-F238E27FC236}">
                <a16:creationId xmlns:a16="http://schemas.microsoft.com/office/drawing/2014/main" id="{CEEB42D4-B768-462E-91FB-A74E82B51CBE}"/>
              </a:ext>
            </a:extLst>
          </p:cNvPr>
          <p:cNvSpPr txBox="1"/>
          <p:nvPr/>
        </p:nvSpPr>
        <p:spPr>
          <a:xfrm flipH="1">
            <a:off x="3878488" y="661434"/>
            <a:ext cx="3916375" cy="461665"/>
          </a:xfrm>
          <a:prstGeom prst="rect">
            <a:avLst/>
          </a:prstGeom>
          <a:noFill/>
        </p:spPr>
        <p:txBody>
          <a:bodyPr wrap="square" rtlCol="0">
            <a:spAutoFit/>
          </a:bodyPr>
          <a:lstStyle/>
          <a:p>
            <a:r>
              <a:rPr lang="en-GB" sz="2400" b="1" dirty="0">
                <a:solidFill>
                  <a:schemeClr val="bg1"/>
                </a:solidFill>
                <a:latin typeface="Book Antiqua" panose="02040602050305030304" pitchFamily="18" charset="0"/>
              </a:rPr>
              <a:t>IMPLEMENTATION</a:t>
            </a:r>
          </a:p>
        </p:txBody>
      </p:sp>
      <p:sp>
        <p:nvSpPr>
          <p:cNvPr id="4" name="TextBox 3">
            <a:extLst>
              <a:ext uri="{FF2B5EF4-FFF2-40B4-BE49-F238E27FC236}">
                <a16:creationId xmlns:a16="http://schemas.microsoft.com/office/drawing/2014/main" id="{BA01F15E-6A91-4FD7-BBB5-02DDB652430D}"/>
              </a:ext>
            </a:extLst>
          </p:cNvPr>
          <p:cNvSpPr txBox="1"/>
          <p:nvPr/>
        </p:nvSpPr>
        <p:spPr>
          <a:xfrm flipH="1">
            <a:off x="1681841" y="1824224"/>
            <a:ext cx="10249445" cy="4585871"/>
          </a:xfrm>
          <a:prstGeom prst="rect">
            <a:avLst/>
          </a:prstGeom>
          <a:noFill/>
        </p:spPr>
        <p:txBody>
          <a:bodyPr wrap="square" rtlCol="0">
            <a:spAutoFit/>
          </a:bodyPr>
          <a:lstStyle/>
          <a:p>
            <a:r>
              <a:rPr lang="en-GB" sz="2800" b="1" dirty="0">
                <a:solidFill>
                  <a:schemeClr val="bg1"/>
                </a:solidFill>
                <a:latin typeface="Book Antiqua" panose="02040602050305030304" pitchFamily="18" charset="0"/>
              </a:rPr>
              <a:t>Programming the Arduino:</a:t>
            </a:r>
          </a:p>
          <a:p>
            <a:pPr marL="800100" lvl="1" indent="-342900">
              <a:buFont typeface="Arial" panose="020B0604020202020204" pitchFamily="34" charset="0"/>
              <a:buChar char="•"/>
            </a:pPr>
            <a:r>
              <a:rPr lang="en-GB" sz="2400" b="1" i="1" dirty="0">
                <a:solidFill>
                  <a:schemeClr val="bg1"/>
                </a:solidFill>
                <a:latin typeface="Book Antiqua" panose="02040602050305030304" pitchFamily="18" charset="0"/>
              </a:rPr>
              <a:t>Libraries: </a:t>
            </a:r>
            <a:r>
              <a:rPr lang="en-GB" sz="2400" dirty="0">
                <a:solidFill>
                  <a:schemeClr val="bg1"/>
                </a:solidFill>
                <a:latin typeface="Book Antiqua" panose="02040602050305030304" pitchFamily="18" charset="0"/>
              </a:rPr>
              <a:t>Include the necessary libraries (</a:t>
            </a:r>
            <a:r>
              <a:rPr lang="en-GB" sz="2400" dirty="0" err="1">
                <a:solidFill>
                  <a:schemeClr val="bg1"/>
                </a:solidFill>
                <a:latin typeface="Book Antiqua" panose="02040602050305030304" pitchFamily="18" charset="0"/>
              </a:rPr>
              <a:t>Wire.h</a:t>
            </a:r>
            <a:r>
              <a:rPr lang="en-GB" sz="2400" dirty="0">
                <a:solidFill>
                  <a:schemeClr val="bg1"/>
                </a:solidFill>
                <a:latin typeface="Book Antiqua" panose="02040602050305030304" pitchFamily="18" charset="0"/>
              </a:rPr>
              <a:t>, LiquidCrystal_I2C.h, HCSR04.h) for handling I2C communication, LCD display, and ultrasonic sensor operations.</a:t>
            </a:r>
          </a:p>
          <a:p>
            <a:pPr lvl="1"/>
            <a:endParaRPr lang="en-GB" sz="2400" dirty="0">
              <a:solidFill>
                <a:schemeClr val="bg1"/>
              </a:solidFill>
              <a:latin typeface="Book Antiqua" panose="02040602050305030304" pitchFamily="18" charset="0"/>
            </a:endParaRPr>
          </a:p>
          <a:p>
            <a:pPr marL="800100" lvl="1" indent="-342900">
              <a:buFont typeface="Arial" panose="020B0604020202020204" pitchFamily="34" charset="0"/>
              <a:buChar char="•"/>
            </a:pPr>
            <a:r>
              <a:rPr lang="en-GB" sz="2400" b="1" i="1" dirty="0">
                <a:solidFill>
                  <a:schemeClr val="bg1"/>
                </a:solidFill>
                <a:latin typeface="Book Antiqua" panose="02040602050305030304" pitchFamily="18" charset="0"/>
              </a:rPr>
              <a:t>Initialization: </a:t>
            </a:r>
            <a:r>
              <a:rPr lang="en-GB" sz="2400" dirty="0">
                <a:solidFill>
                  <a:schemeClr val="bg1"/>
                </a:solidFill>
                <a:latin typeface="Book Antiqua" panose="02040602050305030304" pitchFamily="18" charset="0"/>
              </a:rPr>
              <a:t>Initialize the LCD and sensor in the setup() function. Set the pin modes for the ultrasonic sensor.</a:t>
            </a:r>
          </a:p>
          <a:p>
            <a:pPr lvl="1"/>
            <a:endParaRPr lang="en-GB" sz="2400" dirty="0">
              <a:solidFill>
                <a:schemeClr val="bg1"/>
              </a:solidFill>
              <a:latin typeface="Book Antiqua" panose="02040602050305030304" pitchFamily="18" charset="0"/>
            </a:endParaRPr>
          </a:p>
          <a:p>
            <a:pPr marL="800100" lvl="1" indent="-342900">
              <a:buFont typeface="Arial" panose="020B0604020202020204" pitchFamily="34" charset="0"/>
              <a:buChar char="•"/>
            </a:pPr>
            <a:r>
              <a:rPr lang="en-GB" sz="2400" b="1" i="1" dirty="0">
                <a:solidFill>
                  <a:schemeClr val="bg1"/>
                </a:solidFill>
                <a:latin typeface="Book Antiqua" panose="02040602050305030304" pitchFamily="18" charset="0"/>
              </a:rPr>
              <a:t>Loop Function: </a:t>
            </a:r>
            <a:r>
              <a:rPr lang="en-GB" sz="2400" dirty="0">
                <a:solidFill>
                  <a:schemeClr val="bg1"/>
                </a:solidFill>
                <a:latin typeface="Book Antiqua" panose="02040602050305030304" pitchFamily="18" charset="0"/>
              </a:rPr>
              <a:t>In the loop() function, trigger the ultrasonic sensor, measure the echo time, calculate the distance, and display the result on the LCD. Implement additional logic for threshold detection and reset distance calculation if needed.</a:t>
            </a:r>
            <a:endParaRPr lang="en-GB" sz="2000" dirty="0">
              <a:solidFill>
                <a:schemeClr val="bg1"/>
              </a:solidFill>
              <a:latin typeface="Book Antiqua" panose="02040602050305030304" pitchFamily="18" charset="0"/>
            </a:endParaRPr>
          </a:p>
        </p:txBody>
      </p:sp>
      <p:sp>
        <p:nvSpPr>
          <p:cNvPr id="6" name="Rectangle 5">
            <a:extLst>
              <a:ext uri="{FF2B5EF4-FFF2-40B4-BE49-F238E27FC236}">
                <a16:creationId xmlns:a16="http://schemas.microsoft.com/office/drawing/2014/main" id="{6255D163-895B-44CB-BB8E-F51096C87832}"/>
              </a:ext>
            </a:extLst>
          </p:cNvPr>
          <p:cNvSpPr/>
          <p:nvPr/>
        </p:nvSpPr>
        <p:spPr>
          <a:xfrm flipH="1">
            <a:off x="3757356" y="180677"/>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3294884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ED4A058-BF77-41CA-A378-61CAEEAFEE9D}"/>
              </a:ext>
            </a:extLst>
          </p:cNvPr>
          <p:cNvSpPr/>
          <p:nvPr/>
        </p:nvSpPr>
        <p:spPr>
          <a:xfrm>
            <a:off x="3679716" y="1639988"/>
            <a:ext cx="2104103" cy="323481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a:t>ARDUINO </a:t>
            </a:r>
          </a:p>
          <a:p>
            <a:pPr algn="ctr"/>
            <a:r>
              <a:rPr lang="en-GB" dirty="0"/>
              <a:t>UNO</a:t>
            </a:r>
          </a:p>
        </p:txBody>
      </p:sp>
      <p:sp>
        <p:nvSpPr>
          <p:cNvPr id="12" name="Rectangle: Rounded Corners 11">
            <a:extLst>
              <a:ext uri="{FF2B5EF4-FFF2-40B4-BE49-F238E27FC236}">
                <a16:creationId xmlns:a16="http://schemas.microsoft.com/office/drawing/2014/main" id="{0450E62D-D906-4AA2-9463-52DF83CCF9AD}"/>
              </a:ext>
            </a:extLst>
          </p:cNvPr>
          <p:cNvSpPr/>
          <p:nvPr/>
        </p:nvSpPr>
        <p:spPr>
          <a:xfrm>
            <a:off x="6642634" y="1990981"/>
            <a:ext cx="2816772" cy="92491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dirty="0"/>
              <a:t>POWER SUPPLY</a:t>
            </a:r>
          </a:p>
        </p:txBody>
      </p:sp>
      <p:sp>
        <p:nvSpPr>
          <p:cNvPr id="13" name="Rectangle: Rounded Corners 12">
            <a:extLst>
              <a:ext uri="{FF2B5EF4-FFF2-40B4-BE49-F238E27FC236}">
                <a16:creationId xmlns:a16="http://schemas.microsoft.com/office/drawing/2014/main" id="{36F423E7-F594-4F3E-95B3-418C3E833C06}"/>
              </a:ext>
            </a:extLst>
          </p:cNvPr>
          <p:cNvSpPr/>
          <p:nvPr/>
        </p:nvSpPr>
        <p:spPr>
          <a:xfrm>
            <a:off x="6591910" y="3518920"/>
            <a:ext cx="2918221" cy="80926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dirty="0"/>
              <a:t>MOTOR DRIVER</a:t>
            </a:r>
          </a:p>
        </p:txBody>
      </p:sp>
      <p:sp>
        <p:nvSpPr>
          <p:cNvPr id="14" name="Rectangle: Rounded Corners 13">
            <a:extLst>
              <a:ext uri="{FF2B5EF4-FFF2-40B4-BE49-F238E27FC236}">
                <a16:creationId xmlns:a16="http://schemas.microsoft.com/office/drawing/2014/main" id="{9CA8EC30-FC78-4223-BEAC-14D2A573F5B1}"/>
              </a:ext>
            </a:extLst>
          </p:cNvPr>
          <p:cNvSpPr/>
          <p:nvPr/>
        </p:nvSpPr>
        <p:spPr>
          <a:xfrm>
            <a:off x="325712" y="2936567"/>
            <a:ext cx="2497394" cy="86328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GB" dirty="0"/>
              <a:t>ULTRA-SONIC </a:t>
            </a:r>
          </a:p>
          <a:p>
            <a:pPr algn="ctr"/>
            <a:r>
              <a:rPr lang="en-GB" dirty="0"/>
              <a:t>SENSOR</a:t>
            </a:r>
          </a:p>
        </p:txBody>
      </p:sp>
      <p:sp>
        <p:nvSpPr>
          <p:cNvPr id="15" name="Rectangle: Rounded Corners 14">
            <a:extLst>
              <a:ext uri="{FF2B5EF4-FFF2-40B4-BE49-F238E27FC236}">
                <a16:creationId xmlns:a16="http://schemas.microsoft.com/office/drawing/2014/main" id="{9BF0D723-8F05-4E0E-8CC9-06730654751C}"/>
              </a:ext>
            </a:extLst>
          </p:cNvPr>
          <p:cNvSpPr/>
          <p:nvPr/>
        </p:nvSpPr>
        <p:spPr>
          <a:xfrm>
            <a:off x="10075702" y="3683126"/>
            <a:ext cx="1942691" cy="53649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dirty="0"/>
              <a:t>PUMP</a:t>
            </a:r>
          </a:p>
        </p:txBody>
      </p:sp>
      <p:pic>
        <p:nvPicPr>
          <p:cNvPr id="17" name="Picture 16">
            <a:extLst>
              <a:ext uri="{FF2B5EF4-FFF2-40B4-BE49-F238E27FC236}">
                <a16:creationId xmlns:a16="http://schemas.microsoft.com/office/drawing/2014/main" id="{7AE386E9-588C-4AB6-9C5C-EC2A55FD37E8}"/>
              </a:ext>
            </a:extLst>
          </p:cNvPr>
          <p:cNvPicPr>
            <a:picLocks noChangeAspect="1"/>
          </p:cNvPicPr>
          <p:nvPr/>
        </p:nvPicPr>
        <p:blipFill>
          <a:blip r:embed="rId2"/>
          <a:stretch>
            <a:fillRect/>
          </a:stretch>
        </p:blipFill>
        <p:spPr>
          <a:xfrm>
            <a:off x="9560224" y="3810594"/>
            <a:ext cx="465384" cy="281558"/>
          </a:xfrm>
          <a:prstGeom prst="rect">
            <a:avLst/>
          </a:prstGeom>
        </p:spPr>
      </p:pic>
      <p:pic>
        <p:nvPicPr>
          <p:cNvPr id="19" name="Picture 18">
            <a:extLst>
              <a:ext uri="{FF2B5EF4-FFF2-40B4-BE49-F238E27FC236}">
                <a16:creationId xmlns:a16="http://schemas.microsoft.com/office/drawing/2014/main" id="{E95F96D1-0F1A-4770-8F6A-6E0589C39C37}"/>
              </a:ext>
            </a:extLst>
          </p:cNvPr>
          <p:cNvPicPr>
            <a:picLocks noChangeAspect="1"/>
          </p:cNvPicPr>
          <p:nvPr/>
        </p:nvPicPr>
        <p:blipFill>
          <a:blip r:embed="rId2"/>
          <a:stretch>
            <a:fillRect/>
          </a:stretch>
        </p:blipFill>
        <p:spPr>
          <a:xfrm>
            <a:off x="2897631" y="3205856"/>
            <a:ext cx="751457" cy="311580"/>
          </a:xfrm>
          <a:prstGeom prst="rect">
            <a:avLst/>
          </a:prstGeom>
        </p:spPr>
      </p:pic>
      <p:sp>
        <p:nvSpPr>
          <p:cNvPr id="22" name="Arrow: Down 21">
            <a:extLst>
              <a:ext uri="{FF2B5EF4-FFF2-40B4-BE49-F238E27FC236}">
                <a16:creationId xmlns:a16="http://schemas.microsoft.com/office/drawing/2014/main" id="{04BE3A31-E9F3-42DD-9CBE-C9D54EBFD866}"/>
              </a:ext>
            </a:extLst>
          </p:cNvPr>
          <p:cNvSpPr/>
          <p:nvPr/>
        </p:nvSpPr>
        <p:spPr>
          <a:xfrm>
            <a:off x="7817620" y="3015446"/>
            <a:ext cx="466800" cy="4438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Left-Right 23">
            <a:extLst>
              <a:ext uri="{FF2B5EF4-FFF2-40B4-BE49-F238E27FC236}">
                <a16:creationId xmlns:a16="http://schemas.microsoft.com/office/drawing/2014/main" id="{CC570111-C474-41D1-B985-79B57989FF28}"/>
              </a:ext>
            </a:extLst>
          </p:cNvPr>
          <p:cNvSpPr/>
          <p:nvPr/>
        </p:nvSpPr>
        <p:spPr>
          <a:xfrm>
            <a:off x="5814447" y="3730321"/>
            <a:ext cx="770748" cy="38646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Right 24">
            <a:extLst>
              <a:ext uri="{FF2B5EF4-FFF2-40B4-BE49-F238E27FC236}">
                <a16:creationId xmlns:a16="http://schemas.microsoft.com/office/drawing/2014/main" id="{ED986FDA-60A1-4A6D-BF01-E561C07E62B4}"/>
              </a:ext>
            </a:extLst>
          </p:cNvPr>
          <p:cNvSpPr/>
          <p:nvPr/>
        </p:nvSpPr>
        <p:spPr>
          <a:xfrm rot="10800000">
            <a:off x="2845779" y="1949928"/>
            <a:ext cx="720752" cy="378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841DA282-AED9-4EFD-9161-36EAA112400D}"/>
              </a:ext>
            </a:extLst>
          </p:cNvPr>
          <p:cNvSpPr/>
          <p:nvPr/>
        </p:nvSpPr>
        <p:spPr>
          <a:xfrm>
            <a:off x="415232" y="1867371"/>
            <a:ext cx="2317362" cy="536494"/>
          </a:xfrm>
          <a:prstGeom prst="round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LCD UNIT</a:t>
            </a:r>
          </a:p>
        </p:txBody>
      </p:sp>
      <p:sp>
        <p:nvSpPr>
          <p:cNvPr id="4" name="TextBox 3">
            <a:extLst>
              <a:ext uri="{FF2B5EF4-FFF2-40B4-BE49-F238E27FC236}">
                <a16:creationId xmlns:a16="http://schemas.microsoft.com/office/drawing/2014/main" id="{FDAFE0A7-C2A8-438B-A338-2A086DA2741F}"/>
              </a:ext>
            </a:extLst>
          </p:cNvPr>
          <p:cNvSpPr txBox="1"/>
          <p:nvPr/>
        </p:nvSpPr>
        <p:spPr>
          <a:xfrm>
            <a:off x="193154" y="497858"/>
            <a:ext cx="5535561" cy="584775"/>
          </a:xfrm>
          <a:prstGeom prst="rect">
            <a:avLst/>
          </a:prstGeom>
          <a:noFill/>
        </p:spPr>
        <p:txBody>
          <a:bodyPr wrap="square" rtlCol="0">
            <a:spAutoFit/>
          </a:bodyPr>
          <a:lstStyle/>
          <a:p>
            <a:r>
              <a:rPr lang="en-GB" sz="3200" b="1" dirty="0">
                <a:solidFill>
                  <a:schemeClr val="bg1"/>
                </a:solidFill>
                <a:latin typeface="Book Antiqua" panose="02040602050305030304" pitchFamily="18" charset="0"/>
              </a:rPr>
              <a:t>BLOCK DIAGRAM</a:t>
            </a:r>
          </a:p>
        </p:txBody>
      </p:sp>
      <p:sp>
        <p:nvSpPr>
          <p:cNvPr id="5" name="Rectangle: Rounded Corners 4">
            <a:extLst>
              <a:ext uri="{FF2B5EF4-FFF2-40B4-BE49-F238E27FC236}">
                <a16:creationId xmlns:a16="http://schemas.microsoft.com/office/drawing/2014/main" id="{64EA8EE7-9F4D-4D08-826B-E191E3AC0A98}"/>
              </a:ext>
            </a:extLst>
          </p:cNvPr>
          <p:cNvSpPr/>
          <p:nvPr/>
        </p:nvSpPr>
        <p:spPr>
          <a:xfrm>
            <a:off x="2993453" y="5513170"/>
            <a:ext cx="1372526" cy="33435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BUTTON</a:t>
            </a:r>
          </a:p>
        </p:txBody>
      </p:sp>
      <p:sp>
        <p:nvSpPr>
          <p:cNvPr id="26" name="Rectangle: Rounded Corners 25">
            <a:extLst>
              <a:ext uri="{FF2B5EF4-FFF2-40B4-BE49-F238E27FC236}">
                <a16:creationId xmlns:a16="http://schemas.microsoft.com/office/drawing/2014/main" id="{22B80875-CBC9-4E00-AA7A-7CAEB297066D}"/>
              </a:ext>
            </a:extLst>
          </p:cNvPr>
          <p:cNvSpPr/>
          <p:nvPr/>
        </p:nvSpPr>
        <p:spPr>
          <a:xfrm>
            <a:off x="5042452" y="5508020"/>
            <a:ext cx="1372526" cy="33435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SWITCH</a:t>
            </a:r>
          </a:p>
        </p:txBody>
      </p:sp>
      <p:pic>
        <p:nvPicPr>
          <p:cNvPr id="28" name="Picture 27">
            <a:extLst>
              <a:ext uri="{FF2B5EF4-FFF2-40B4-BE49-F238E27FC236}">
                <a16:creationId xmlns:a16="http://schemas.microsoft.com/office/drawing/2014/main" id="{C4FD1748-24B8-446D-87A0-638A5FE23C97}"/>
              </a:ext>
            </a:extLst>
          </p:cNvPr>
          <p:cNvPicPr>
            <a:picLocks noChangeAspect="1"/>
          </p:cNvPicPr>
          <p:nvPr/>
        </p:nvPicPr>
        <p:blipFill>
          <a:blip r:embed="rId2"/>
          <a:stretch>
            <a:fillRect/>
          </a:stretch>
        </p:blipFill>
        <p:spPr>
          <a:xfrm rot="16200000">
            <a:off x="4932271" y="5016414"/>
            <a:ext cx="557880" cy="337518"/>
          </a:xfrm>
          <a:prstGeom prst="rect">
            <a:avLst/>
          </a:prstGeom>
        </p:spPr>
      </p:pic>
      <p:pic>
        <p:nvPicPr>
          <p:cNvPr id="29" name="Picture 28">
            <a:extLst>
              <a:ext uri="{FF2B5EF4-FFF2-40B4-BE49-F238E27FC236}">
                <a16:creationId xmlns:a16="http://schemas.microsoft.com/office/drawing/2014/main" id="{6D6F75BC-D15A-4CFE-A3BF-A34D4866FD8D}"/>
              </a:ext>
            </a:extLst>
          </p:cNvPr>
          <p:cNvPicPr>
            <a:picLocks noChangeAspect="1"/>
          </p:cNvPicPr>
          <p:nvPr/>
        </p:nvPicPr>
        <p:blipFill>
          <a:blip r:embed="rId2"/>
          <a:stretch>
            <a:fillRect/>
          </a:stretch>
        </p:blipFill>
        <p:spPr>
          <a:xfrm rot="16200000">
            <a:off x="3918280" y="5010418"/>
            <a:ext cx="557880" cy="337518"/>
          </a:xfrm>
          <a:prstGeom prst="rect">
            <a:avLst/>
          </a:prstGeom>
        </p:spPr>
      </p:pic>
    </p:spTree>
    <p:extLst>
      <p:ext uri="{BB962C8B-B14F-4D97-AF65-F5344CB8AC3E}">
        <p14:creationId xmlns:p14="http://schemas.microsoft.com/office/powerpoint/2010/main" val="297111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F3482B4-C1F8-4E86-ABAD-639065BAE9E5}"/>
              </a:ext>
            </a:extLst>
          </p:cNvPr>
          <p:cNvPicPr>
            <a:picLocks noChangeAspect="1"/>
          </p:cNvPicPr>
          <p:nvPr/>
        </p:nvPicPr>
        <p:blipFill rotWithShape="1">
          <a:blip r:embed="rId2"/>
          <a:srcRect l="11610" t="25966" r="8616" b="27347"/>
          <a:stretch/>
        </p:blipFill>
        <p:spPr>
          <a:xfrm>
            <a:off x="172713" y="905617"/>
            <a:ext cx="2223042" cy="1078342"/>
          </a:xfrm>
          <a:prstGeom prst="rect">
            <a:avLst/>
          </a:prstGeom>
        </p:spPr>
      </p:pic>
      <p:cxnSp>
        <p:nvCxnSpPr>
          <p:cNvPr id="16" name="Straight Arrow Connector 15">
            <a:extLst>
              <a:ext uri="{FF2B5EF4-FFF2-40B4-BE49-F238E27FC236}">
                <a16:creationId xmlns:a16="http://schemas.microsoft.com/office/drawing/2014/main" id="{6A8C3350-0F80-4740-AB57-B162F47853B6}"/>
              </a:ext>
            </a:extLst>
          </p:cNvPr>
          <p:cNvCxnSpPr/>
          <p:nvPr/>
        </p:nvCxnSpPr>
        <p:spPr>
          <a:xfrm>
            <a:off x="3500179" y="2202426"/>
            <a:ext cx="1219089" cy="570271"/>
          </a:xfrm>
          <a:prstGeom prst="straightConnector1">
            <a:avLst/>
          </a:prstGeom>
          <a:ln>
            <a:noFill/>
            <a:tailEnd type="triangle"/>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49A8ECB0-D6DB-4E64-B5FC-050607F41CA5}"/>
              </a:ext>
            </a:extLst>
          </p:cNvPr>
          <p:cNvCxnSpPr>
            <a:cxnSpLocks/>
          </p:cNvCxnSpPr>
          <p:nvPr/>
        </p:nvCxnSpPr>
        <p:spPr>
          <a:xfrm rot="16200000" flipH="1">
            <a:off x="6845358" y="3575226"/>
            <a:ext cx="512948" cy="363126"/>
          </a:xfrm>
          <a:prstGeom prst="bentConnector3">
            <a:avLst>
              <a:gd name="adj1" fmla="val 50000"/>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C3C2303C-EFAC-4481-A02B-504DC604B5B8}"/>
              </a:ext>
            </a:extLst>
          </p:cNvPr>
          <p:cNvCxnSpPr>
            <a:cxnSpLocks/>
          </p:cNvCxnSpPr>
          <p:nvPr/>
        </p:nvCxnSpPr>
        <p:spPr>
          <a:xfrm>
            <a:off x="5725215" y="4136303"/>
            <a:ext cx="1256631" cy="768484"/>
          </a:xfrm>
          <a:prstGeom prst="bentConnector3">
            <a:avLst>
              <a:gd name="adj1" fmla="val 50000"/>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5DD4A065-BC63-4013-B29F-34D1406F7633}"/>
              </a:ext>
            </a:extLst>
          </p:cNvPr>
          <p:cNvCxnSpPr>
            <a:cxnSpLocks/>
          </p:cNvCxnSpPr>
          <p:nvPr/>
        </p:nvCxnSpPr>
        <p:spPr>
          <a:xfrm>
            <a:off x="2497305" y="1469043"/>
            <a:ext cx="669556" cy="659332"/>
          </a:xfrm>
          <a:prstGeom prst="bentConnector3">
            <a:avLst>
              <a:gd name="adj1" fmla="val 50000"/>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330F342-4C79-4DBD-A081-2F54183F6F54}"/>
              </a:ext>
            </a:extLst>
          </p:cNvPr>
          <p:cNvCxnSpPr>
            <a:cxnSpLocks/>
          </p:cNvCxnSpPr>
          <p:nvPr/>
        </p:nvCxnSpPr>
        <p:spPr>
          <a:xfrm>
            <a:off x="2318832" y="3588611"/>
            <a:ext cx="864204" cy="0"/>
          </a:xfrm>
          <a:prstGeom prst="straightConnector1">
            <a:avLst/>
          </a:prstGeom>
          <a:ln w="38100">
            <a:solidFill>
              <a:schemeClr val="bg1"/>
            </a:solidFill>
            <a:tailEnd type="triangle"/>
          </a:ln>
        </p:spPr>
        <p:style>
          <a:lnRef idx="3">
            <a:schemeClr val="accent1"/>
          </a:lnRef>
          <a:fillRef idx="0">
            <a:schemeClr val="accent1"/>
          </a:fillRef>
          <a:effectRef idx="2">
            <a:schemeClr val="accent1"/>
          </a:effectRef>
          <a:fontRef idx="minor">
            <a:schemeClr val="tx1"/>
          </a:fontRef>
        </p:style>
      </p:cxnSp>
      <p:grpSp>
        <p:nvGrpSpPr>
          <p:cNvPr id="20" name="Group 2">
            <a:extLst>
              <a:ext uri="{FF2B5EF4-FFF2-40B4-BE49-F238E27FC236}">
                <a16:creationId xmlns:a16="http://schemas.microsoft.com/office/drawing/2014/main" id="{A18FABB7-354E-4A48-8986-3D85A3905BE8}"/>
              </a:ext>
            </a:extLst>
          </p:cNvPr>
          <p:cNvGrpSpPr>
            <a:grpSpLocks noChangeAspect="1"/>
          </p:cNvGrpSpPr>
          <p:nvPr/>
        </p:nvGrpSpPr>
        <p:grpSpPr>
          <a:xfrm>
            <a:off x="3268411" y="1467949"/>
            <a:ext cx="2286870" cy="3073205"/>
            <a:chOff x="0" y="0"/>
            <a:chExt cx="3663950" cy="4923790"/>
          </a:xfrm>
        </p:grpSpPr>
        <p:sp>
          <p:nvSpPr>
            <p:cNvPr id="21" name="Freeform 3">
              <a:extLst>
                <a:ext uri="{FF2B5EF4-FFF2-40B4-BE49-F238E27FC236}">
                  <a16:creationId xmlns:a16="http://schemas.microsoft.com/office/drawing/2014/main" id="{D2FA662E-C528-4891-A535-7B53C3835C70}"/>
                </a:ext>
              </a:extLst>
            </p:cNvPr>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51280" r="-51280"/>
              </a:stretch>
            </a:blipFill>
          </p:spPr>
        </p:sp>
        <p:sp>
          <p:nvSpPr>
            <p:cNvPr id="22" name="Freeform 4">
              <a:extLst>
                <a:ext uri="{FF2B5EF4-FFF2-40B4-BE49-F238E27FC236}">
                  <a16:creationId xmlns:a16="http://schemas.microsoft.com/office/drawing/2014/main" id="{7413FBD9-A4CF-4DFF-8EA3-7B54640BA479}"/>
                </a:ext>
              </a:extLst>
            </p:cNvPr>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5F5C39"/>
            </a:solidFill>
          </p:spPr>
        </p:sp>
      </p:grpSp>
      <p:grpSp>
        <p:nvGrpSpPr>
          <p:cNvPr id="41" name="Group 6">
            <a:extLst>
              <a:ext uri="{FF2B5EF4-FFF2-40B4-BE49-F238E27FC236}">
                <a16:creationId xmlns:a16="http://schemas.microsoft.com/office/drawing/2014/main" id="{6DCFEF6B-A947-47D2-98BB-BCDFD4A95796}"/>
              </a:ext>
            </a:extLst>
          </p:cNvPr>
          <p:cNvGrpSpPr/>
          <p:nvPr/>
        </p:nvGrpSpPr>
        <p:grpSpPr>
          <a:xfrm>
            <a:off x="149321" y="3004552"/>
            <a:ext cx="2036847" cy="1205302"/>
            <a:chOff x="-7458700" y="-400790"/>
            <a:chExt cx="21134739" cy="13257116"/>
          </a:xfrm>
        </p:grpSpPr>
        <p:sp>
          <p:nvSpPr>
            <p:cNvPr id="42" name="Freeform 7">
              <a:extLst>
                <a:ext uri="{FF2B5EF4-FFF2-40B4-BE49-F238E27FC236}">
                  <a16:creationId xmlns:a16="http://schemas.microsoft.com/office/drawing/2014/main" id="{C5B84FD2-6023-45B3-ABFC-53D815990078}"/>
                </a:ext>
              </a:extLst>
            </p:cNvPr>
            <p:cNvSpPr/>
            <p:nvPr/>
          </p:nvSpPr>
          <p:spPr>
            <a:xfrm>
              <a:off x="-7458700" y="-400790"/>
              <a:ext cx="21134739" cy="13257116"/>
            </a:xfrm>
            <a:custGeom>
              <a:avLst/>
              <a:gdLst/>
              <a:ahLst/>
              <a:cxnLst/>
              <a:rect l="l" t="t" r="r" b="b"/>
              <a:pathLst>
                <a:path w="21134739" h="13257117">
                  <a:moveTo>
                    <a:pt x="16640080" y="1068493"/>
                  </a:moveTo>
                  <a:cubicBezTo>
                    <a:pt x="14688791" y="215434"/>
                    <a:pt x="14166087" y="176396"/>
                    <a:pt x="11873271" y="0"/>
                  </a:cubicBezTo>
                  <a:cubicBezTo>
                    <a:pt x="6617076" y="43376"/>
                    <a:pt x="2356309" y="2151444"/>
                    <a:pt x="706980" y="5617177"/>
                  </a:cubicBezTo>
                  <a:cubicBezTo>
                    <a:pt x="142627" y="6802784"/>
                    <a:pt x="0" y="8128641"/>
                    <a:pt x="654918" y="9289668"/>
                  </a:cubicBezTo>
                  <a:cubicBezTo>
                    <a:pt x="1525397" y="10815054"/>
                    <a:pt x="3689100" y="11848845"/>
                    <a:pt x="5975670" y="12265253"/>
                  </a:cubicBezTo>
                  <a:cubicBezTo>
                    <a:pt x="8262240" y="12683108"/>
                    <a:pt x="10779964" y="13257117"/>
                    <a:pt x="13124845" y="13059033"/>
                  </a:cubicBezTo>
                  <a:cubicBezTo>
                    <a:pt x="14953267" y="12904326"/>
                    <a:pt x="16779606" y="11976081"/>
                    <a:pt x="18147799" y="11120130"/>
                  </a:cubicBezTo>
                  <a:cubicBezTo>
                    <a:pt x="19055764" y="10551907"/>
                    <a:pt x="19622200" y="9763911"/>
                    <a:pt x="20001211" y="8957120"/>
                  </a:cubicBezTo>
                  <a:cubicBezTo>
                    <a:pt x="21134739" y="6149255"/>
                    <a:pt x="20240699" y="2644483"/>
                    <a:pt x="16640080" y="1068493"/>
                  </a:cubicBezTo>
                  <a:close/>
                </a:path>
              </a:pathLst>
            </a:custGeom>
            <a:blipFill>
              <a:blip r:embed="rId4"/>
              <a:stretch>
                <a:fillRect t="-4849" b="-7438"/>
              </a:stretch>
            </a:blipFill>
          </p:spPr>
        </p:sp>
      </p:grpSp>
      <p:grpSp>
        <p:nvGrpSpPr>
          <p:cNvPr id="43" name="Group 8">
            <a:extLst>
              <a:ext uri="{FF2B5EF4-FFF2-40B4-BE49-F238E27FC236}">
                <a16:creationId xmlns:a16="http://schemas.microsoft.com/office/drawing/2014/main" id="{AF2F37D4-DF0C-4F5D-9316-FE1295351E83}"/>
              </a:ext>
            </a:extLst>
          </p:cNvPr>
          <p:cNvGrpSpPr>
            <a:grpSpLocks noChangeAspect="1"/>
          </p:cNvGrpSpPr>
          <p:nvPr/>
        </p:nvGrpSpPr>
        <p:grpSpPr>
          <a:xfrm>
            <a:off x="9583591" y="4013263"/>
            <a:ext cx="1257772" cy="1690254"/>
            <a:chOff x="0" y="0"/>
            <a:chExt cx="3663950" cy="4923790"/>
          </a:xfrm>
        </p:grpSpPr>
        <p:sp>
          <p:nvSpPr>
            <p:cNvPr id="44" name="Freeform 9">
              <a:extLst>
                <a:ext uri="{FF2B5EF4-FFF2-40B4-BE49-F238E27FC236}">
                  <a16:creationId xmlns:a16="http://schemas.microsoft.com/office/drawing/2014/main" id="{709F9362-085A-4BD2-8C41-AFFCE40378E6}"/>
                </a:ext>
              </a:extLst>
            </p:cNvPr>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5"/>
              <a:stretch>
                <a:fillRect l="-33164"/>
              </a:stretch>
            </a:blipFill>
          </p:spPr>
        </p:sp>
        <p:sp>
          <p:nvSpPr>
            <p:cNvPr id="45" name="Freeform 10">
              <a:extLst>
                <a:ext uri="{FF2B5EF4-FFF2-40B4-BE49-F238E27FC236}">
                  <a16:creationId xmlns:a16="http://schemas.microsoft.com/office/drawing/2014/main" id="{92188550-F205-4FB0-A519-26A24CAB4485}"/>
                </a:ext>
              </a:extLst>
            </p:cNvPr>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4F674F"/>
            </a:solidFill>
          </p:spPr>
        </p:sp>
      </p:grpSp>
      <p:pic>
        <p:nvPicPr>
          <p:cNvPr id="5122" name="Picture 2" descr="L298N Based Motor Driver Module - 2A - Robu.in | Indian Online Store ...">
            <a:extLst>
              <a:ext uri="{FF2B5EF4-FFF2-40B4-BE49-F238E27FC236}">
                <a16:creationId xmlns:a16="http://schemas.microsoft.com/office/drawing/2014/main" id="{062A369C-D960-4219-A874-A7F4A45168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1663" y="4169276"/>
            <a:ext cx="1339201" cy="1377792"/>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Straight Arrow Connector 47">
            <a:extLst>
              <a:ext uri="{FF2B5EF4-FFF2-40B4-BE49-F238E27FC236}">
                <a16:creationId xmlns:a16="http://schemas.microsoft.com/office/drawing/2014/main" id="{BB92A54D-9499-4138-B130-D117C15864A2}"/>
              </a:ext>
            </a:extLst>
          </p:cNvPr>
          <p:cNvCxnSpPr>
            <a:cxnSpLocks/>
          </p:cNvCxnSpPr>
          <p:nvPr/>
        </p:nvCxnSpPr>
        <p:spPr>
          <a:xfrm>
            <a:off x="8577834" y="4858885"/>
            <a:ext cx="864204" cy="0"/>
          </a:xfrm>
          <a:prstGeom prst="straightConnector1">
            <a:avLst/>
          </a:prstGeom>
          <a:ln w="38100">
            <a:solidFill>
              <a:schemeClr val="bg1"/>
            </a:solidFill>
            <a:tailEnd type="triangle"/>
          </a:ln>
        </p:spPr>
        <p:style>
          <a:lnRef idx="3">
            <a:schemeClr val="accent1"/>
          </a:lnRef>
          <a:fillRef idx="0">
            <a:schemeClr val="accent1"/>
          </a:fillRef>
          <a:effectRef idx="2">
            <a:schemeClr val="accent1"/>
          </a:effectRef>
          <a:fontRef idx="minor">
            <a:schemeClr val="tx1"/>
          </a:fontRef>
        </p:style>
      </p:cxnSp>
      <p:cxnSp>
        <p:nvCxnSpPr>
          <p:cNvPr id="56" name="Straight Arrow Connector 55">
            <a:extLst>
              <a:ext uri="{FF2B5EF4-FFF2-40B4-BE49-F238E27FC236}">
                <a16:creationId xmlns:a16="http://schemas.microsoft.com/office/drawing/2014/main" id="{BB3A5BE5-B806-4E3B-B7FD-A80B7F377D1A}"/>
              </a:ext>
            </a:extLst>
          </p:cNvPr>
          <p:cNvCxnSpPr>
            <a:cxnSpLocks/>
          </p:cNvCxnSpPr>
          <p:nvPr/>
        </p:nvCxnSpPr>
        <p:spPr>
          <a:xfrm flipH="1">
            <a:off x="5611541" y="4136303"/>
            <a:ext cx="556428" cy="0"/>
          </a:xfrm>
          <a:prstGeom prst="straightConnector1">
            <a:avLst/>
          </a:prstGeom>
          <a:ln w="38100">
            <a:solidFill>
              <a:schemeClr val="bg1"/>
            </a:solidFill>
            <a:tailEnd type="triangle"/>
          </a:ln>
        </p:spPr>
        <p:style>
          <a:lnRef idx="3">
            <a:schemeClr val="accent1"/>
          </a:lnRef>
          <a:fillRef idx="0">
            <a:schemeClr val="accent1"/>
          </a:fillRef>
          <a:effectRef idx="2">
            <a:schemeClr val="accent1"/>
          </a:effectRef>
          <a:fontRef idx="minor">
            <a:schemeClr val="tx1"/>
          </a:fontRef>
        </p:style>
      </p:cxnSp>
      <p:pic>
        <p:nvPicPr>
          <p:cNvPr id="5124" name="Picture 4" descr="Led Switching Power Adapter 12 Volt 2.5 Amp AC DC Plug Adaptor 12V 2.5A">
            <a:extLst>
              <a:ext uri="{FF2B5EF4-FFF2-40B4-BE49-F238E27FC236}">
                <a16:creationId xmlns:a16="http://schemas.microsoft.com/office/drawing/2014/main" id="{49C05B25-21B9-43F1-819B-4F55A649CB6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62" t="-7158" r="2662" b="7158"/>
          <a:stretch/>
        </p:blipFill>
        <p:spPr bwMode="auto">
          <a:xfrm>
            <a:off x="6096000" y="1979894"/>
            <a:ext cx="1923619" cy="137779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126" name="Picture 6" descr="SWITCHES">
            <a:extLst>
              <a:ext uri="{FF2B5EF4-FFF2-40B4-BE49-F238E27FC236}">
                <a16:creationId xmlns:a16="http://schemas.microsoft.com/office/drawing/2014/main" id="{9CAC1AE0-FF85-4D42-A786-A39A4BDB52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1941" y="5299162"/>
            <a:ext cx="839801" cy="839801"/>
          </a:xfrm>
          <a:prstGeom prst="rect">
            <a:avLst/>
          </a:prstGeom>
          <a:noFill/>
          <a:extLst>
            <a:ext uri="{909E8E84-426E-40DD-AFC4-6F175D3DCCD1}">
              <a14:hiddenFill xmlns:a14="http://schemas.microsoft.com/office/drawing/2010/main">
                <a:solidFill>
                  <a:srgbClr val="FFFFFF"/>
                </a:solidFill>
              </a14:hiddenFill>
            </a:ext>
          </a:extLst>
        </p:spPr>
      </p:pic>
      <p:cxnSp>
        <p:nvCxnSpPr>
          <p:cNvPr id="62" name="Connector: Elbow 61">
            <a:extLst>
              <a:ext uri="{FF2B5EF4-FFF2-40B4-BE49-F238E27FC236}">
                <a16:creationId xmlns:a16="http://schemas.microsoft.com/office/drawing/2014/main" id="{D368A32A-DC96-41EF-A54D-FE0C5F828FFD}"/>
              </a:ext>
            </a:extLst>
          </p:cNvPr>
          <p:cNvCxnSpPr>
            <a:cxnSpLocks/>
          </p:cNvCxnSpPr>
          <p:nvPr/>
        </p:nvCxnSpPr>
        <p:spPr>
          <a:xfrm rot="16200000" flipH="1">
            <a:off x="4847588" y="4738595"/>
            <a:ext cx="512948" cy="363126"/>
          </a:xfrm>
          <a:prstGeom prst="bentConnector3">
            <a:avLst>
              <a:gd name="adj1" fmla="val 50000"/>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128" name="Picture 8" descr="The Basics of Buttons and Switches - News - SparkFun Electronics">
            <a:extLst>
              <a:ext uri="{FF2B5EF4-FFF2-40B4-BE49-F238E27FC236}">
                <a16:creationId xmlns:a16="http://schemas.microsoft.com/office/drawing/2014/main" id="{10D69E9A-B9C0-464A-BE0A-107972CF96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2558" y="5290278"/>
            <a:ext cx="848686" cy="848686"/>
          </a:xfrm>
          <a:prstGeom prst="rect">
            <a:avLst/>
          </a:prstGeom>
          <a:noFill/>
          <a:extLst>
            <a:ext uri="{909E8E84-426E-40DD-AFC4-6F175D3DCCD1}">
              <a14:hiddenFill xmlns:a14="http://schemas.microsoft.com/office/drawing/2010/main">
                <a:solidFill>
                  <a:srgbClr val="FFFFFF"/>
                </a:solidFill>
              </a14:hiddenFill>
            </a:ext>
          </a:extLst>
        </p:spPr>
      </p:pic>
      <p:cxnSp>
        <p:nvCxnSpPr>
          <p:cNvPr id="64" name="Connector: Elbow 63">
            <a:extLst>
              <a:ext uri="{FF2B5EF4-FFF2-40B4-BE49-F238E27FC236}">
                <a16:creationId xmlns:a16="http://schemas.microsoft.com/office/drawing/2014/main" id="{4D91BACE-A24C-44AD-A727-B7D993B12EFE}"/>
              </a:ext>
            </a:extLst>
          </p:cNvPr>
          <p:cNvCxnSpPr>
            <a:cxnSpLocks/>
          </p:cNvCxnSpPr>
          <p:nvPr/>
        </p:nvCxnSpPr>
        <p:spPr>
          <a:xfrm rot="5400000">
            <a:off x="3647872" y="4692616"/>
            <a:ext cx="499361" cy="424341"/>
          </a:xfrm>
          <a:prstGeom prst="bentConnector3">
            <a:avLst>
              <a:gd name="adj1" fmla="val 50000"/>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763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718DFE-80AB-4D05-BBC6-C4836A8C2B5C}"/>
              </a:ext>
            </a:extLst>
          </p:cNvPr>
          <p:cNvSpPr>
            <a:spLocks noGrp="1"/>
          </p:cNvSpPr>
          <p:nvPr>
            <p:ph type="title"/>
          </p:nvPr>
        </p:nvSpPr>
        <p:spPr>
          <a:xfrm>
            <a:off x="-524749" y="2229464"/>
            <a:ext cx="10868283" cy="2399071"/>
          </a:xfrm>
        </p:spPr>
        <p:txBody>
          <a:bodyPr>
            <a:noAutofit/>
          </a:bodyPr>
          <a:lstStyle/>
          <a:p>
            <a:pPr algn="ctr"/>
            <a:r>
              <a:rPr lang="en-GB" sz="7200" dirty="0">
                <a:latin typeface="Book Antiqua" panose="02040602050305030304" pitchFamily="18" charset="0"/>
              </a:rPr>
              <a:t>RESULTS &amp; DISCUSSION</a:t>
            </a:r>
          </a:p>
        </p:txBody>
      </p:sp>
    </p:spTree>
    <p:extLst>
      <p:ext uri="{BB962C8B-B14F-4D97-AF65-F5344CB8AC3E}">
        <p14:creationId xmlns:p14="http://schemas.microsoft.com/office/powerpoint/2010/main" val="2894084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54BCF5-031D-4975-8AC1-A26FC4711B83}"/>
              </a:ext>
            </a:extLst>
          </p:cNvPr>
          <p:cNvSpPr>
            <a:spLocks noGrp="1"/>
          </p:cNvSpPr>
          <p:nvPr>
            <p:ph type="title"/>
          </p:nvPr>
        </p:nvSpPr>
        <p:spPr>
          <a:xfrm>
            <a:off x="400283" y="601335"/>
            <a:ext cx="11214100" cy="535531"/>
          </a:xfrm>
        </p:spPr>
        <p:txBody>
          <a:bodyPr>
            <a:normAutofit fontScale="90000"/>
          </a:bodyPr>
          <a:lstStyle/>
          <a:p>
            <a:r>
              <a:rPr lang="en-GB" sz="3600" dirty="0">
                <a:latin typeface="Book Antiqua" panose="02040602050305030304" pitchFamily="18" charset="0"/>
              </a:rPr>
              <a:t>RESULTS AND DISCUSSION</a:t>
            </a:r>
          </a:p>
        </p:txBody>
      </p:sp>
      <p:sp>
        <p:nvSpPr>
          <p:cNvPr id="4" name="Content Placeholder 3">
            <a:extLst>
              <a:ext uri="{FF2B5EF4-FFF2-40B4-BE49-F238E27FC236}">
                <a16:creationId xmlns:a16="http://schemas.microsoft.com/office/drawing/2014/main" id="{21AC69D6-7C20-4334-98DA-565EFDD7C1FC}"/>
              </a:ext>
            </a:extLst>
          </p:cNvPr>
          <p:cNvSpPr>
            <a:spLocks noGrp="1"/>
          </p:cNvSpPr>
          <p:nvPr>
            <p:ph idx="1"/>
          </p:nvPr>
        </p:nvSpPr>
        <p:spPr>
          <a:xfrm>
            <a:off x="245808" y="2472856"/>
            <a:ext cx="5850192" cy="3061252"/>
          </a:xfrm>
        </p:spPr>
        <p:txBody>
          <a:bodyPr>
            <a:normAutofit/>
          </a:bodyPr>
          <a:lstStyle/>
          <a:p>
            <a:r>
              <a:rPr lang="en-IN" sz="3200" dirty="0"/>
              <a:t>Water Conservation</a:t>
            </a:r>
          </a:p>
          <a:p>
            <a:r>
              <a:rPr lang="en-IN" sz="3200" dirty="0"/>
              <a:t>Accurate and Reliable</a:t>
            </a:r>
          </a:p>
          <a:p>
            <a:r>
              <a:rPr lang="en-IN" sz="3200" dirty="0"/>
              <a:t>Scalable</a:t>
            </a:r>
          </a:p>
          <a:p>
            <a:r>
              <a:rPr lang="en-IN" sz="3200" dirty="0"/>
              <a:t>Energy Efficient</a:t>
            </a:r>
          </a:p>
          <a:p>
            <a:r>
              <a:rPr lang="en-IN" sz="3200" dirty="0"/>
              <a:t>Good User Interface</a:t>
            </a:r>
            <a:endParaRPr lang="en-GB" sz="4400" dirty="0"/>
          </a:p>
        </p:txBody>
      </p:sp>
      <p:sp>
        <p:nvSpPr>
          <p:cNvPr id="5" name="Rectangle 4">
            <a:extLst>
              <a:ext uri="{FF2B5EF4-FFF2-40B4-BE49-F238E27FC236}">
                <a16:creationId xmlns:a16="http://schemas.microsoft.com/office/drawing/2014/main" id="{AB0C235E-9C72-40FD-9984-3D4A5E839B34}"/>
              </a:ext>
            </a:extLst>
          </p:cNvPr>
          <p:cNvSpPr/>
          <p:nvPr/>
        </p:nvSpPr>
        <p:spPr>
          <a:xfrm flipH="1">
            <a:off x="354564" y="397890"/>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4069523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E548FE-AE08-4A52-A9CA-589E05D69DB3}"/>
              </a:ext>
            </a:extLst>
          </p:cNvPr>
          <p:cNvSpPr>
            <a:spLocks noGrp="1"/>
          </p:cNvSpPr>
          <p:nvPr>
            <p:ph type="title"/>
          </p:nvPr>
        </p:nvSpPr>
        <p:spPr>
          <a:xfrm>
            <a:off x="533399" y="3200400"/>
            <a:ext cx="9583995" cy="2859313"/>
          </a:xfrm>
        </p:spPr>
        <p:txBody>
          <a:bodyPr>
            <a:normAutofit/>
          </a:bodyPr>
          <a:lstStyle/>
          <a:p>
            <a:pPr algn="ctr"/>
            <a:r>
              <a:rPr lang="en-GB" sz="7200" b="1" dirty="0">
                <a:latin typeface="Book Antiqua" panose="02040602050305030304" pitchFamily="18" charset="0"/>
              </a:rPr>
              <a:t>CONCLUSION</a:t>
            </a:r>
          </a:p>
        </p:txBody>
      </p:sp>
    </p:spTree>
    <p:extLst>
      <p:ext uri="{BB962C8B-B14F-4D97-AF65-F5344CB8AC3E}">
        <p14:creationId xmlns:p14="http://schemas.microsoft.com/office/powerpoint/2010/main" val="187034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865D7C-FD94-40CF-AED3-A61B2A40CCF0}"/>
              </a:ext>
            </a:extLst>
          </p:cNvPr>
          <p:cNvSpPr>
            <a:spLocks noGrp="1"/>
          </p:cNvSpPr>
          <p:nvPr>
            <p:ph type="title"/>
          </p:nvPr>
        </p:nvSpPr>
        <p:spPr>
          <a:xfrm>
            <a:off x="443365" y="573635"/>
            <a:ext cx="11214100" cy="590931"/>
          </a:xfrm>
        </p:spPr>
        <p:txBody>
          <a:bodyPr/>
          <a:lstStyle/>
          <a:p>
            <a:r>
              <a:rPr lang="en-GB" sz="3600" dirty="0">
                <a:latin typeface="Book Antiqua" panose="02040602050305030304" pitchFamily="18" charset="0"/>
              </a:rPr>
              <a:t>CONCLUSION</a:t>
            </a:r>
          </a:p>
        </p:txBody>
      </p:sp>
      <p:sp>
        <p:nvSpPr>
          <p:cNvPr id="4" name="Content Placeholder 3">
            <a:extLst>
              <a:ext uri="{FF2B5EF4-FFF2-40B4-BE49-F238E27FC236}">
                <a16:creationId xmlns:a16="http://schemas.microsoft.com/office/drawing/2014/main" id="{4E101DFC-F93E-4FC7-B068-98D3B288AE19}"/>
              </a:ext>
            </a:extLst>
          </p:cNvPr>
          <p:cNvSpPr>
            <a:spLocks noGrp="1"/>
          </p:cNvSpPr>
          <p:nvPr>
            <p:ph idx="1"/>
          </p:nvPr>
        </p:nvSpPr>
        <p:spPr>
          <a:xfrm>
            <a:off x="253293" y="1746967"/>
            <a:ext cx="10926241" cy="4537398"/>
          </a:xfrm>
        </p:spPr>
        <p:txBody>
          <a:bodyPr>
            <a:normAutofit fontScale="92500" lnSpcReduction="20000"/>
          </a:bodyPr>
          <a:lstStyle/>
          <a:p>
            <a:pPr marL="0" indent="0">
              <a:buNone/>
            </a:pPr>
            <a:r>
              <a:rPr lang="en-GB" dirty="0"/>
              <a:t>The Ultrasonic Sensor-Based Water Level Measurement System effectively addresses the critical issue of water conservation by providing a reliable, real-time method for monitoring water levels in various storage systems. This project combines the use of an HC-SR04 ultrasonic sensor, Arduino microcontroller, and an LCD display to deliver accurate measurements and user-friendly data visualization. The system’s ability to prevent water wastage in urban and agricultural settings underscores its importance in addressing water scarcity and promoting sustainable water management practices. By implementing such innovative solutions, we can contribute significantly to conserving one of the planet’s most vital resources, ensuring its availability for future generations. This project not only demonstrates the practical application of electronics and programming in solving real-world problems but also highlights the importance of technological advancements in resource management and environmental conservation.</a:t>
            </a:r>
            <a:endParaRPr lang="en-GB" sz="4000" dirty="0"/>
          </a:p>
          <a:p>
            <a:pPr marL="0" indent="0">
              <a:buNone/>
            </a:pPr>
            <a:endParaRPr lang="en-GB" dirty="0"/>
          </a:p>
        </p:txBody>
      </p:sp>
      <p:sp>
        <p:nvSpPr>
          <p:cNvPr id="5" name="Rectangle 4">
            <a:extLst>
              <a:ext uri="{FF2B5EF4-FFF2-40B4-BE49-F238E27FC236}">
                <a16:creationId xmlns:a16="http://schemas.microsoft.com/office/drawing/2014/main" id="{1F6AD71E-9B8B-4C74-A93F-DF902815EF7F}"/>
              </a:ext>
            </a:extLst>
          </p:cNvPr>
          <p:cNvSpPr/>
          <p:nvPr/>
        </p:nvSpPr>
        <p:spPr>
          <a:xfrm flipH="1">
            <a:off x="354564" y="397890"/>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2609359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30778D8-CC6F-4480-AD9C-57501DD994D0}"/>
              </a:ext>
            </a:extLst>
          </p:cNvPr>
          <p:cNvSpPr>
            <a:spLocks noGrp="1"/>
          </p:cNvSpPr>
          <p:nvPr>
            <p:ph type="ctrTitle"/>
          </p:nvPr>
        </p:nvSpPr>
        <p:spPr>
          <a:xfrm>
            <a:off x="1199535" y="2513714"/>
            <a:ext cx="10048568" cy="2048453"/>
          </a:xfrm>
        </p:spPr>
        <p:txBody>
          <a:bodyPr/>
          <a:lstStyle/>
          <a:p>
            <a:pPr algn="ctr"/>
            <a:r>
              <a:rPr lang="en-GB" sz="7200" dirty="0">
                <a:solidFill>
                  <a:schemeClr val="bg1"/>
                </a:solidFill>
              </a:rPr>
              <a:t>SCOPE FOR FUTURE WORK</a:t>
            </a:r>
          </a:p>
        </p:txBody>
      </p:sp>
    </p:spTree>
    <p:extLst>
      <p:ext uri="{BB962C8B-B14F-4D97-AF65-F5344CB8AC3E}">
        <p14:creationId xmlns:p14="http://schemas.microsoft.com/office/powerpoint/2010/main" val="1780367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1A671C-53E1-4DFA-AEF9-3BA9DC62DD67}"/>
              </a:ext>
            </a:extLst>
          </p:cNvPr>
          <p:cNvSpPr>
            <a:spLocks noGrp="1"/>
          </p:cNvSpPr>
          <p:nvPr>
            <p:ph type="body" idx="1"/>
          </p:nvPr>
        </p:nvSpPr>
        <p:spPr>
          <a:xfrm>
            <a:off x="260400" y="2263637"/>
            <a:ext cx="8344900" cy="3510356"/>
          </a:xfrm>
        </p:spPr>
        <p:txBody>
          <a:bodyPr>
            <a:normAutofit/>
          </a:bodyPr>
          <a:lstStyle/>
          <a:p>
            <a:pPr marL="285750" indent="-285750">
              <a:buFont typeface="Wingdings" panose="05000000000000000000" pitchFamily="2" charset="2"/>
              <a:buChar char="Ø"/>
            </a:pPr>
            <a:r>
              <a:rPr lang="en-GB" sz="1400" dirty="0">
                <a:ea typeface="Adobe Ming Std L" panose="02020300000000000000" pitchFamily="18" charset="-128"/>
              </a:rPr>
              <a:t>The Ultrasonic Sensor-Based Water Level Measurement System holds significant societal relevance, particularly in the context of water conservation. In urban areas, water loss due to overflows from tanks and reservoirs is a major issue. This system helps prevent such overflows by providing timely alerts when water levels reach critical points. In rural and agricultural settings, where water is a vital resource for irrigation, this system ensures that water is used efficiently, preventing both over-irrigation and under-irrigation.</a:t>
            </a:r>
          </a:p>
          <a:p>
            <a:pPr marL="285750" indent="-285750">
              <a:buFont typeface="Wingdings" panose="05000000000000000000" pitchFamily="2" charset="2"/>
              <a:buChar char="Ø"/>
            </a:pPr>
            <a:r>
              <a:rPr lang="en-GB" sz="1400" dirty="0"/>
              <a:t>In India, approximately 45 million cubic meters of water are wasted daily in urban areas due to inefficiencies in water management. Globally, about 30% of the world's water supply is wasted annually because of inefficient usage and lack of proper monitoring systems. By implementing this system, significant water savings can be achieved, contributing to the conservation of natural water bodies, maintaining ecological balance, and supporting biodiversity</a:t>
            </a:r>
            <a:r>
              <a:rPr lang="en-GB" sz="1200" dirty="0"/>
              <a:t>.</a:t>
            </a:r>
            <a:endParaRPr lang="en-GB" sz="1000" dirty="0">
              <a:solidFill>
                <a:schemeClr val="bg1"/>
              </a:solidFill>
              <a:ea typeface="Adobe Ming Std L" panose="02020300000000000000" pitchFamily="18" charset="-128"/>
            </a:endParaRPr>
          </a:p>
        </p:txBody>
      </p:sp>
      <p:sp>
        <p:nvSpPr>
          <p:cNvPr id="3" name="Title 2">
            <a:extLst>
              <a:ext uri="{FF2B5EF4-FFF2-40B4-BE49-F238E27FC236}">
                <a16:creationId xmlns:a16="http://schemas.microsoft.com/office/drawing/2014/main" id="{EC2B4568-9FA6-4C87-B20A-C4B4AD4CFAE5}"/>
              </a:ext>
            </a:extLst>
          </p:cNvPr>
          <p:cNvSpPr>
            <a:spLocks noGrp="1"/>
          </p:cNvSpPr>
          <p:nvPr>
            <p:ph type="title"/>
          </p:nvPr>
        </p:nvSpPr>
        <p:spPr>
          <a:xfrm>
            <a:off x="410115" y="1084007"/>
            <a:ext cx="7781544" cy="859055"/>
          </a:xfrm>
        </p:spPr>
        <p:txBody>
          <a:bodyPr>
            <a:normAutofit/>
          </a:bodyPr>
          <a:lstStyle/>
          <a:p>
            <a:r>
              <a:rPr lang="en-GB" sz="3600" dirty="0">
                <a:latin typeface="Book Antiqua" panose="02040602050305030304" pitchFamily="18" charset="0"/>
              </a:rPr>
              <a:t>SOCIETAL RELEVANCE</a:t>
            </a:r>
          </a:p>
        </p:txBody>
      </p:sp>
      <p:sp>
        <p:nvSpPr>
          <p:cNvPr id="4" name="Rectangle 3">
            <a:extLst>
              <a:ext uri="{FF2B5EF4-FFF2-40B4-BE49-F238E27FC236}">
                <a16:creationId xmlns:a16="http://schemas.microsoft.com/office/drawing/2014/main" id="{DCDFD19A-E2C3-4F90-B05C-459003952969}"/>
              </a:ext>
            </a:extLst>
          </p:cNvPr>
          <p:cNvSpPr/>
          <p:nvPr/>
        </p:nvSpPr>
        <p:spPr>
          <a:xfrm flipH="1">
            <a:off x="364396" y="1170141"/>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Tree>
    <p:extLst>
      <p:ext uri="{BB962C8B-B14F-4D97-AF65-F5344CB8AC3E}">
        <p14:creationId xmlns:p14="http://schemas.microsoft.com/office/powerpoint/2010/main" val="3948470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2B4568-9FA6-4C87-B20A-C4B4AD4CFAE5}"/>
              </a:ext>
            </a:extLst>
          </p:cNvPr>
          <p:cNvSpPr>
            <a:spLocks noGrp="1"/>
          </p:cNvSpPr>
          <p:nvPr>
            <p:ph type="title"/>
          </p:nvPr>
        </p:nvSpPr>
        <p:spPr>
          <a:xfrm>
            <a:off x="410115" y="1084007"/>
            <a:ext cx="7781544" cy="859055"/>
          </a:xfrm>
        </p:spPr>
        <p:txBody>
          <a:bodyPr>
            <a:normAutofit/>
          </a:bodyPr>
          <a:lstStyle/>
          <a:p>
            <a:r>
              <a:rPr lang="en-IN" sz="4000" dirty="0"/>
              <a:t>Future Enhancements:</a:t>
            </a:r>
            <a:endParaRPr lang="en-GB" sz="9600" dirty="0">
              <a:latin typeface="Book Antiqua" panose="02040602050305030304" pitchFamily="18" charset="0"/>
            </a:endParaRPr>
          </a:p>
        </p:txBody>
      </p:sp>
      <p:sp>
        <p:nvSpPr>
          <p:cNvPr id="4" name="Rectangle 3">
            <a:extLst>
              <a:ext uri="{FF2B5EF4-FFF2-40B4-BE49-F238E27FC236}">
                <a16:creationId xmlns:a16="http://schemas.microsoft.com/office/drawing/2014/main" id="{DCDFD19A-E2C3-4F90-B05C-459003952969}"/>
              </a:ext>
            </a:extLst>
          </p:cNvPr>
          <p:cNvSpPr/>
          <p:nvPr/>
        </p:nvSpPr>
        <p:spPr>
          <a:xfrm flipH="1">
            <a:off x="364396" y="1170141"/>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
        <p:nvSpPr>
          <p:cNvPr id="5" name="Rectangle 1">
            <a:extLst>
              <a:ext uri="{FF2B5EF4-FFF2-40B4-BE49-F238E27FC236}">
                <a16:creationId xmlns:a16="http://schemas.microsoft.com/office/drawing/2014/main" id="{18DF77DF-2610-4549-9632-9AAF5CCA40D2}"/>
              </a:ext>
            </a:extLst>
          </p:cNvPr>
          <p:cNvSpPr>
            <a:spLocks noGrp="1" noChangeArrowheads="1"/>
          </p:cNvSpPr>
          <p:nvPr>
            <p:ph type="body" idx="1"/>
          </p:nvPr>
        </p:nvSpPr>
        <p:spPr bwMode="auto">
          <a:xfrm>
            <a:off x="260350" y="2433708"/>
            <a:ext cx="823377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Implementing wireless communication (e.g., Wi-Fi or Bluetooth) to monitor and control the system remotely via a smartphone app.</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Adding more sensors (e.g., water flow sensors) to monitor additional parameters and improve overall system functionality.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Incorporating solar panels or other renewable energy sources to make the system more sustainable and independent of the power grid. </a:t>
            </a:r>
          </a:p>
        </p:txBody>
      </p:sp>
    </p:spTree>
    <p:extLst>
      <p:ext uri="{BB962C8B-B14F-4D97-AF65-F5344CB8AC3E}">
        <p14:creationId xmlns:p14="http://schemas.microsoft.com/office/powerpoint/2010/main" val="2576830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259EE-1B39-478F-8C61-1480AB363332}"/>
              </a:ext>
            </a:extLst>
          </p:cNvPr>
          <p:cNvSpPr>
            <a:spLocks noGrp="1"/>
          </p:cNvSpPr>
          <p:nvPr>
            <p:ph type="title"/>
          </p:nvPr>
        </p:nvSpPr>
        <p:spPr>
          <a:xfrm>
            <a:off x="478142" y="2727856"/>
            <a:ext cx="8557702" cy="1402287"/>
          </a:xfrm>
        </p:spPr>
        <p:txBody>
          <a:bodyPr>
            <a:noAutofit/>
          </a:bodyPr>
          <a:lstStyle/>
          <a:p>
            <a:pPr algn="ctr"/>
            <a:r>
              <a:rPr lang="en-GB" sz="7200" dirty="0">
                <a:latin typeface="Book Antiqua" panose="02040602050305030304" pitchFamily="18" charset="0"/>
              </a:rPr>
              <a:t>REFERENCES</a:t>
            </a:r>
          </a:p>
        </p:txBody>
      </p:sp>
    </p:spTree>
    <p:extLst>
      <p:ext uri="{BB962C8B-B14F-4D97-AF65-F5344CB8AC3E}">
        <p14:creationId xmlns:p14="http://schemas.microsoft.com/office/powerpoint/2010/main" val="142563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ADA6E0-3F7A-493C-B920-ECCAE793E419}"/>
              </a:ext>
            </a:extLst>
          </p:cNvPr>
          <p:cNvSpPr txBox="1"/>
          <p:nvPr/>
        </p:nvSpPr>
        <p:spPr>
          <a:xfrm>
            <a:off x="400283" y="550607"/>
            <a:ext cx="5122606" cy="646331"/>
          </a:xfrm>
          <a:prstGeom prst="rect">
            <a:avLst/>
          </a:prstGeom>
          <a:noFill/>
        </p:spPr>
        <p:txBody>
          <a:bodyPr wrap="square" rtlCol="0">
            <a:spAutoFit/>
          </a:bodyPr>
          <a:lstStyle/>
          <a:p>
            <a:r>
              <a:rPr lang="en-GB" sz="3600" dirty="0">
                <a:solidFill>
                  <a:schemeClr val="bg1"/>
                </a:solidFill>
                <a:latin typeface="Book Antiqua" panose="02040602050305030304" pitchFamily="18" charset="0"/>
              </a:rPr>
              <a:t>REFERENCES</a:t>
            </a:r>
          </a:p>
        </p:txBody>
      </p:sp>
      <p:sp>
        <p:nvSpPr>
          <p:cNvPr id="5" name="Rectangle 4">
            <a:extLst>
              <a:ext uri="{FF2B5EF4-FFF2-40B4-BE49-F238E27FC236}">
                <a16:creationId xmlns:a16="http://schemas.microsoft.com/office/drawing/2014/main" id="{95F93F1E-3C51-4F36-9081-219C43FFDAC0}"/>
              </a:ext>
            </a:extLst>
          </p:cNvPr>
          <p:cNvSpPr/>
          <p:nvPr/>
        </p:nvSpPr>
        <p:spPr>
          <a:xfrm flipH="1">
            <a:off x="354564" y="397890"/>
            <a:ext cx="45719" cy="942422"/>
          </a:xfrm>
          <a:prstGeom prst="rect">
            <a:avLst/>
          </a:prstGeom>
          <a:solidFill>
            <a:srgbClr val="C0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b="1">
              <a:ln w="22225">
                <a:solidFill>
                  <a:schemeClr val="accent2"/>
                </a:solidFill>
                <a:prstDash val="solid"/>
              </a:ln>
              <a:solidFill>
                <a:srgbClr val="C00000"/>
              </a:solidFill>
            </a:endParaRPr>
          </a:p>
        </p:txBody>
      </p:sp>
      <p:sp>
        <p:nvSpPr>
          <p:cNvPr id="4" name="Rectangle 2">
            <a:extLst>
              <a:ext uri="{FF2B5EF4-FFF2-40B4-BE49-F238E27FC236}">
                <a16:creationId xmlns:a16="http://schemas.microsoft.com/office/drawing/2014/main" id="{81F6FF55-5879-40E9-A333-A5BAFD529DA0}"/>
              </a:ext>
            </a:extLst>
          </p:cNvPr>
          <p:cNvSpPr>
            <a:spLocks noGrp="1" noChangeArrowheads="1"/>
          </p:cNvSpPr>
          <p:nvPr>
            <p:ph type="body" sz="half" idx="2"/>
          </p:nvPr>
        </p:nvSpPr>
        <p:spPr bwMode="auto">
          <a:xfrm>
            <a:off x="638037" y="1271517"/>
            <a:ext cx="569120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Central Ground Water Board, Ministry of Jal Shakti, Government of India. "Annual Report 2020-21." Link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World Bank. "World Bank Water Data." </a:t>
            </a:r>
            <a:r>
              <a:rPr lang="en-US" altLang="en-US" sz="1800" dirty="0">
                <a:hlinkClick r:id="rId2"/>
              </a:rPr>
              <a:t>Link</a:t>
            </a:r>
            <a:endParaRPr lang="en-US" altLang="en-US" sz="18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United Nations. "Water for Life Decade: Water Scarcity." </a:t>
            </a:r>
            <a:r>
              <a:rPr lang="en-US" altLang="en-US" sz="1800" dirty="0">
                <a:hlinkClick r:id="rId3"/>
              </a:rPr>
              <a:t>Link</a:t>
            </a:r>
            <a:endParaRPr lang="en-US" altLang="en-US" sz="18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Arduino Official Documentation. "Arduino Uno Rev3." LinkHC-SR04 Ultrasonic Sensor Datasheet. Link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LiquidCrystal_I2C Library Documentation. </a:t>
            </a:r>
            <a:r>
              <a:rPr lang="en-US" altLang="en-US" sz="1800" dirty="0">
                <a:hlinkClick r:id="rId4"/>
              </a:rPr>
              <a:t>Link</a:t>
            </a:r>
            <a:endParaRPr lang="en-US" altLang="en-US" sz="18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UNESCO World Water Assessment </a:t>
            </a:r>
            <a:r>
              <a:rPr lang="en-US" altLang="en-US" sz="1800" dirty="0" err="1"/>
              <a:t>Programme</a:t>
            </a:r>
            <a:r>
              <a:rPr lang="en-US" altLang="en-US" sz="1800" dirty="0"/>
              <a:t>. "The United Nations World Water Development Report 2021: Valuing Water." </a:t>
            </a:r>
            <a:r>
              <a:rPr lang="en-US" altLang="en-US" sz="1800" dirty="0">
                <a:hlinkClick r:id="rId5"/>
              </a:rPr>
              <a:t>Link</a:t>
            </a:r>
            <a:endParaRPr lang="en-US" altLang="en-US" sz="18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t>Journal of Water Resource and Protection. "Water Conservation in India: An Overview." Link </a:t>
            </a:r>
          </a:p>
        </p:txBody>
      </p:sp>
    </p:spTree>
    <p:extLst>
      <p:ext uri="{BB962C8B-B14F-4D97-AF65-F5344CB8AC3E}">
        <p14:creationId xmlns:p14="http://schemas.microsoft.com/office/powerpoint/2010/main" val="832651007"/>
      </p:ext>
    </p:extLst>
  </p:cSld>
  <p:clrMapOvr>
    <a:masterClrMapping/>
  </p:clrMapOvr>
</p:sld>
</file>

<file path=ppt/theme/theme1.xml><?xml version="1.0" encoding="utf-8"?>
<a:theme xmlns:a="http://schemas.openxmlformats.org/drawingml/2006/main" name="Theme1">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3C94948E-8443-4284-9796-4FC62292286E}" vid="{0BF8488F-99F8-4525-8922-69927DAE328E}"/>
    </a:ext>
  </a:extLst>
</a:theme>
</file>

<file path=docProps/app.xml><?xml version="1.0" encoding="utf-8"?>
<Properties xmlns="http://schemas.openxmlformats.org/officeDocument/2006/extended-properties" xmlns:vt="http://schemas.openxmlformats.org/officeDocument/2006/docPropsVTypes">
  <Template>Theme1</Template>
  <TotalTime>978</TotalTime>
  <Words>1441</Words>
  <Application>Microsoft Office PowerPoint</Application>
  <PresentationFormat>Widescreen</PresentationFormat>
  <Paragraphs>105</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Book Antiqua</vt:lpstr>
      <vt:lpstr>Calibri</vt:lpstr>
      <vt:lpstr>Cambria</vt:lpstr>
      <vt:lpstr>Times New Roman</vt:lpstr>
      <vt:lpstr>Trade Gothic LT Pro</vt:lpstr>
      <vt:lpstr>Trebuchet MS</vt:lpstr>
      <vt:lpstr>Wingdings</vt:lpstr>
      <vt:lpstr>Theme1</vt:lpstr>
      <vt:lpstr>PowerPoint Presentation</vt:lpstr>
      <vt:lpstr>CONTENTS</vt:lpstr>
      <vt:lpstr>INTRODUCTION</vt:lpstr>
      <vt:lpstr>PowerPoint Presentation</vt:lpstr>
      <vt:lpstr>PowerPoint Presentation</vt:lpstr>
      <vt:lpstr>OBJECTIVES</vt:lpstr>
      <vt:lpstr>PowerPoint Presentation</vt:lpstr>
      <vt:lpstr>METHODOLOGY</vt:lpstr>
      <vt:lpstr>METHODOLOGY</vt:lpstr>
      <vt:lpstr>PowerPoint Presentation</vt:lpstr>
      <vt:lpstr> 1. Microcontroller                                           :  Arduino UNO  2. Operating Voltage(logic level)                 : 5 V   3. Input Voltage(recommended)                 : 12 V   4. Input Voltage(limits)                                  : 12 V </vt:lpstr>
      <vt:lpstr>PowerPoint Presentation</vt:lpstr>
      <vt:lpstr>PowerPoint Presentation</vt:lpstr>
      <vt:lpstr>PowerPoint Presentation</vt:lpstr>
      <vt:lpstr>PowerPoint Presentation</vt:lpstr>
      <vt:lpstr>RESULTS &amp; DISCUSSION</vt:lpstr>
      <vt:lpstr>RESULTS AND DISCUSSION</vt:lpstr>
      <vt:lpstr>CONCLUSION</vt:lpstr>
      <vt:lpstr>CONCLUSION</vt:lpstr>
      <vt:lpstr>SCOPE FOR FUTURE WORK</vt:lpstr>
      <vt:lpstr>SOCIETAL RELEVANCE</vt:lpstr>
      <vt:lpstr>Future Enhancements: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vijaydaddi2000@gmail.com</dc:creator>
  <cp:lastModifiedBy>Salsabeel Kobattey</cp:lastModifiedBy>
  <cp:revision>57</cp:revision>
  <dcterms:created xsi:type="dcterms:W3CDTF">2021-07-07T09:25:37Z</dcterms:created>
  <dcterms:modified xsi:type="dcterms:W3CDTF">2024-07-03T08:30:06Z</dcterms:modified>
</cp:coreProperties>
</file>